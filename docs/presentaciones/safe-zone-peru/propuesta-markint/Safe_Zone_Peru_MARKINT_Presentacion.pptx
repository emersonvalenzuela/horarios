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Presentar el servicio como un proyecto de desarrollo a medida. Comenzar por el trabajo que podrá realizar el equipo, antes de presentar condiciones económicas.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MARKINT utiliza Buk. Todavía se debe confirmar qué desean cambiar y si la nueva plataforma sustituirá o complementará su operación actual. No se ha comprometido integración con Buk.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Mostrar las consultas y operaciones que contempla el sistema. No presentar esta lámina como una pantalla ya implementada.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Ejemplo del flujo previsto: colaborador registra, responsable revisa y decide, interesado consulta la respuesta. Las responsabilidades se confirman con MARKINT.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alcance incluye cálculo base para validación contable, archivos bancarios y firma electrónica de recepción por trazo. No atribuir certificación digital a la firma por trazo.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Conservar el alcance aprobado: campañas de encuestas, confidencialidad y seguimiento de planes de acción; avisos, notificaciones y cobertura de lectura.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 es la distribución funcional inicial. Los permisos concretos se acordarán con MARKINT; no se trata de una matriz de autorizaciones definitiva.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plazo inicia con aceptación, pago inicial e información necesaria. Revisar avances con el representante del cliente. Conservar los periodos del cronograma aprobado.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Presentar la inversión después del alcance. El monto fijo es S/ 3,500 con pagos de 40 %, 30 % y 30 %. No se cobra por colaborador.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Entregables, garantía de 60 días, VPS asumido por MARKINT y validez de 15 días. El alcance excluye conexión directa con relojes físicos y aplicación móvil nativa; los detalles están en la propuesta escrita.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48056"/>
            <a:ext cx="457200" cy="41148"/>
          </a:xfrm>
          <a:prstGeom prst="rect">
            <a:avLst/>
          </a:prstGeom>
          <a:solidFill>
            <a:srgbClr val="078B9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329184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536673"/>
                </a:solidFill>
                <a:latin typeface="DejaVu Sans"/>
              </a:defRPr>
            </a:pPr>
            <a:r>
              <a:t>SAFE ZONE PERÚ  /  MARKINT</a:t>
            </a:r>
          </a:p>
        </p:txBody>
      </p:sp>
      <p:pic>
        <p:nvPicPr>
          <p:cNvPr id="4" name="Picture 3" descr="icono-safe-z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37744"/>
            <a:ext cx="512064" cy="5120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1024128"/>
            <a:ext cx="1088136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3100" b="1">
                <a:solidFill>
                  <a:srgbClr val="183347"/>
                </a:solidFill>
                <a:latin typeface="DejaVu Sans"/>
              </a:defRPr>
            </a:pPr>
            <a:r>
              <a:t>Sistema de Recursos Humanos</a:t>
            </a:r>
          </a:p>
          <a:p>
            <a:pPr>
              <a:spcAft>
                <a:spcPts val="800"/>
              </a:spcAft>
              <a:defRPr sz="3100" b="1">
                <a:solidFill>
                  <a:srgbClr val="183347"/>
                </a:solidFill>
                <a:latin typeface="DejaVu Sans"/>
              </a:defRPr>
            </a:pPr>
            <a:r>
              <a:t>para MARKINT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364224"/>
            <a:ext cx="10991088" cy="10972"/>
          </a:xfrm>
          <a:prstGeom prst="rect">
            <a:avLst/>
          </a:prstGeom>
          <a:solidFill>
            <a:srgbClr val="D7E2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492240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536673"/>
                </a:solidFill>
                <a:latin typeface="DejaVu Sans"/>
              </a:defRPr>
            </a:pPr>
            <a:r>
              <a:t>Propuesta de desarrollo · 22 de octubre de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64808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536673"/>
                </a:solidFill>
                <a:latin typeface="DejaVu Sans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788920"/>
            <a:ext cx="98755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100" b="0">
                <a:solidFill>
                  <a:srgbClr val="536673"/>
                </a:solidFill>
                <a:latin typeface="DejaVu Sans"/>
              </a:defRPr>
            </a:pPr>
            <a:r>
              <a:t>Propuesta presentada a Dirección</a:t>
            </a:r>
          </a:p>
          <a:p>
            <a:pPr>
              <a:spcAft>
                <a:spcPts val="800"/>
              </a:spcAft>
              <a:defRPr sz="2100" b="0">
                <a:solidFill>
                  <a:srgbClr val="536673"/>
                </a:solidFill>
                <a:latin typeface="DejaVu Sans"/>
              </a:defRPr>
            </a:pPr>
            <a:r>
              <a:t>y al equipo de Gestión Humana.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" y="4261104"/>
            <a:ext cx="50292" cy="1115568"/>
          </a:xfrm>
          <a:prstGeom prst="rect">
            <a:avLst/>
          </a:prstGeom>
          <a:solidFill>
            <a:srgbClr val="078B9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279392"/>
            <a:ext cx="97840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100" b="0">
                <a:solidFill>
                  <a:srgbClr val="183347"/>
                </a:solidFill>
                <a:latin typeface="DejaVu Sans"/>
              </a:defRPr>
            </a:pPr>
            <a:r>
              <a:t>Personal, asistencia, solicitudes, planilla y documentos.</a:t>
            </a:r>
          </a:p>
          <a:p>
            <a:pPr>
              <a:spcAft>
                <a:spcPts val="800"/>
              </a:spcAft>
              <a:defRPr sz="2100" b="0">
                <a:solidFill>
                  <a:srgbClr val="183347"/>
                </a:solidFill>
                <a:latin typeface="DejaVu Sans"/>
              </a:defRPr>
            </a:pPr>
            <a:r>
              <a:t>Un proyecto con el alcance y las validaciones</a:t>
            </a:r>
          </a:p>
          <a:p>
            <a:pPr>
              <a:spcAft>
                <a:spcPts val="800"/>
              </a:spcAft>
              <a:defRPr sz="2100" b="0">
                <a:solidFill>
                  <a:srgbClr val="183347"/>
                </a:solidFill>
                <a:latin typeface="DejaVu Sans"/>
              </a:defRPr>
            </a:pPr>
            <a:r>
              <a:t>acordados con su equipo.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48056"/>
            <a:ext cx="457200" cy="41148"/>
          </a:xfrm>
          <a:prstGeom prst="rect">
            <a:avLst/>
          </a:prstGeom>
          <a:solidFill>
            <a:srgbClr val="078B9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329184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536673"/>
                </a:solidFill>
                <a:latin typeface="DejaVu Sans"/>
              </a:defRPr>
            </a:pPr>
            <a:r>
              <a:t>SAFE ZONE PERÚ  /  MARKINT</a:t>
            </a:r>
          </a:p>
        </p:txBody>
      </p:sp>
      <p:pic>
        <p:nvPicPr>
          <p:cNvPr id="4" name="Picture 3" descr="icono-safe-z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37744"/>
            <a:ext cx="512064" cy="5120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1024128"/>
            <a:ext cx="1088136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3100" b="1">
                <a:solidFill>
                  <a:srgbClr val="183347"/>
                </a:solidFill>
                <a:latin typeface="DejaVu Sans"/>
              </a:defRPr>
            </a:pPr>
            <a:r>
              <a:t>El punto de partida es su operación actual.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364224"/>
            <a:ext cx="10991088" cy="10972"/>
          </a:xfrm>
          <a:prstGeom prst="rect">
            <a:avLst/>
          </a:prstGeom>
          <a:solidFill>
            <a:srgbClr val="D7E2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492240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536673"/>
                </a:solidFill>
                <a:latin typeface="DejaVu Sans"/>
              </a:defRPr>
            </a:pPr>
            <a:r>
              <a:t>Cómo trabajaremos · 22 de octubre de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64808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536673"/>
                </a:solidFill>
                <a:latin typeface="DejaVu Sans"/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523744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300" b="0">
                <a:solidFill>
                  <a:srgbClr val="183347"/>
                </a:solidFill>
                <a:latin typeface="DejaVu Sans"/>
              </a:defRPr>
            </a:pPr>
            <a:r>
              <a:t>MARKINT ya trabaja con Buk. La primera revisión será con quienes utilizan hoy sus procesos de Recursos Humanos.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65760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078B9E"/>
                </a:solidFill>
                <a:latin typeface="DejaVu Sans"/>
              </a:defRPr>
            </a:pPr>
            <a:r>
              <a:t>Qué necesitan conservar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3657600"/>
            <a:ext cx="7040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183347"/>
                </a:solidFill>
                <a:latin typeface="DejaVu Sans"/>
              </a:defRPr>
            </a:pPr>
            <a:r>
              <a:t>Datos, reglas y flujos que deben seguir funcionando.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43484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078B9E"/>
                </a:solidFill>
                <a:latin typeface="DejaVu Sans"/>
              </a:defRPr>
            </a:pPr>
            <a:r>
              <a:t>Qué necesitan ajustar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1960" y="4434840"/>
            <a:ext cx="7040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183347"/>
                </a:solidFill>
                <a:latin typeface="DejaVu Sans"/>
              </a:defRPr>
            </a:pPr>
            <a:r>
              <a:t>Solicitudes, responsables, reportes y documentos.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21208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078B9E"/>
                </a:solidFill>
                <a:latin typeface="DejaVu Sans"/>
              </a:defRPr>
            </a:pPr>
            <a:r>
              <a:t>Qué debemos validar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5212080"/>
            <a:ext cx="7040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183347"/>
                </a:solidFill>
                <a:latin typeface="DejaVu Sans"/>
              </a:defRPr>
            </a:pPr>
            <a:r>
              <a:t>Permisos, criterios de planilla y resultados esperados.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48056"/>
            <a:ext cx="457200" cy="41148"/>
          </a:xfrm>
          <a:prstGeom prst="rect">
            <a:avLst/>
          </a:prstGeom>
          <a:solidFill>
            <a:srgbClr val="078B9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329184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536673"/>
                </a:solidFill>
                <a:latin typeface="DejaVu Sans"/>
              </a:defRPr>
            </a:pPr>
            <a:r>
              <a:t>SAFE ZONE PERÚ  /  MARKINT</a:t>
            </a:r>
          </a:p>
        </p:txBody>
      </p:sp>
      <p:pic>
        <p:nvPicPr>
          <p:cNvPr id="4" name="Picture 3" descr="icono-safe-z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37744"/>
            <a:ext cx="512064" cy="5120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1024128"/>
            <a:ext cx="1088136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3100" b="1">
                <a:solidFill>
                  <a:srgbClr val="183347"/>
                </a:solidFill>
                <a:latin typeface="DejaVu Sans"/>
              </a:defRPr>
            </a:pPr>
            <a:r>
              <a:t>Personal y asistencia: qué podrán consultar.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364224"/>
            <a:ext cx="10991088" cy="10972"/>
          </a:xfrm>
          <a:prstGeom prst="rect">
            <a:avLst/>
          </a:prstGeom>
          <a:solidFill>
            <a:srgbClr val="D7E2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492240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536673"/>
                </a:solidFill>
                <a:latin typeface="DejaVu Sans"/>
              </a:defRPr>
            </a:pPr>
            <a:r>
              <a:t>Funciones incluidas · 22 de octubre de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64808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536673"/>
                </a:solidFill>
                <a:latin typeface="DejaVu Sans"/>
              </a:defRPr>
            </a:pPr>
            <a: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56032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78B9E"/>
                </a:solidFill>
                <a:latin typeface="DejaVu Sans"/>
              </a:defRPr>
            </a:pPr>
            <a:r>
              <a:t>Expediente del colaborador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44368"/>
            <a:ext cx="103327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100" b="0">
                <a:solidFill>
                  <a:srgbClr val="183347"/>
                </a:solidFill>
                <a:latin typeface="DejaVu Sans"/>
              </a:defRPr>
            </a:pPr>
            <a:r>
              <a:t>Datos, contratos, cargo, área, sede e historial de movimientos.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3474720"/>
            <a:ext cx="10991088" cy="9144"/>
          </a:xfrm>
          <a:prstGeom prst="rect">
            <a:avLst/>
          </a:prstGeom>
          <a:solidFill>
            <a:srgbClr val="D7E2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61188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78B9E"/>
                </a:solidFill>
                <a:latin typeface="DejaVu Sans"/>
              </a:defRPr>
            </a:pPr>
            <a:r>
              <a:t>Horarios y marcaciones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995928"/>
            <a:ext cx="103327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100" b="0">
                <a:solidFill>
                  <a:srgbClr val="183347"/>
                </a:solidFill>
                <a:latin typeface="DejaVu Sans"/>
              </a:defRPr>
            </a:pPr>
            <a:r>
              <a:t>Programación de horarios; consulta de entradas, salidas y tardanzas.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4526280"/>
            <a:ext cx="10991088" cy="9144"/>
          </a:xfrm>
          <a:prstGeom prst="rect">
            <a:avLst/>
          </a:prstGeom>
          <a:solidFill>
            <a:srgbClr val="D7E2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6634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78B9E"/>
                </a:solidFill>
                <a:latin typeface="DejaVu Sans"/>
              </a:defRPr>
            </a:pPr>
            <a:r>
              <a:t>Incidencias del periodo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047488"/>
            <a:ext cx="103327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100" b="0">
                <a:solidFill>
                  <a:srgbClr val="183347"/>
                </a:solidFill>
                <a:latin typeface="DejaVu Sans"/>
              </a:defRPr>
            </a:pPr>
            <a:r>
              <a:t>Horas extra e incidencias, con reportes para su revisión.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5577840"/>
            <a:ext cx="10991088" cy="9144"/>
          </a:xfrm>
          <a:prstGeom prst="rect">
            <a:avLst/>
          </a:prstGeom>
          <a:solidFill>
            <a:srgbClr val="D7E2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48056"/>
            <a:ext cx="457200" cy="41148"/>
          </a:xfrm>
          <a:prstGeom prst="rect">
            <a:avLst/>
          </a:prstGeom>
          <a:solidFill>
            <a:srgbClr val="078B9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329184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536673"/>
                </a:solidFill>
                <a:latin typeface="DejaVu Sans"/>
              </a:defRPr>
            </a:pPr>
            <a:r>
              <a:t>SAFE ZONE PERÚ  /  MARKINT</a:t>
            </a:r>
          </a:p>
        </p:txBody>
      </p:sp>
      <p:pic>
        <p:nvPicPr>
          <p:cNvPr id="4" name="Picture 3" descr="icono-safe-z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37744"/>
            <a:ext cx="512064" cy="5120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1024128"/>
            <a:ext cx="1088136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3100" b="1">
                <a:solidFill>
                  <a:srgbClr val="183347"/>
                </a:solidFill>
                <a:latin typeface="DejaVu Sans"/>
              </a:defRPr>
            </a:pPr>
            <a:r>
              <a:t>Una solicitud de vacaciones, de inicio a respuesta.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364224"/>
            <a:ext cx="10991088" cy="10972"/>
          </a:xfrm>
          <a:prstGeom prst="rect">
            <a:avLst/>
          </a:prstGeom>
          <a:solidFill>
            <a:srgbClr val="D7E2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492240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536673"/>
                </a:solidFill>
                <a:latin typeface="DejaVu Sans"/>
              </a:defRPr>
            </a:pPr>
            <a:r>
              <a:t>Ejemplo de flujo propuesto · 22 de octubre de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64808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536673"/>
                </a:solidFill>
                <a:latin typeface="DejaVu Sans"/>
              </a:defRPr>
            </a:pPr>
            <a:r>
              <a:t>04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971800"/>
            <a:ext cx="2468880" cy="41148"/>
          </a:xfrm>
          <a:prstGeom prst="rect">
            <a:avLst/>
          </a:prstGeom>
          <a:solidFill>
            <a:srgbClr val="078B9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0984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600" b="0">
                <a:solidFill>
                  <a:srgbClr val="536673"/>
                </a:solidFill>
                <a:latin typeface="DejaVu Sans"/>
              </a:defRPr>
            </a:pPr>
            <a: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995928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78B9E"/>
                </a:solidFill>
                <a:latin typeface="DejaVu Sans"/>
              </a:defRPr>
            </a:pPr>
            <a:r>
              <a:t>SOLICITA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590288"/>
            <a:ext cx="246888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183347"/>
                </a:solidFill>
                <a:latin typeface="DejaVu Sans"/>
              </a:defRPr>
            </a:pPr>
            <a:r>
              <a:t>El colaborador registra</a:t>
            </a:r>
          </a:p>
          <a:p>
            <a:pPr>
              <a:spcAft>
                <a:spcPts val="800"/>
              </a:spcAft>
              <a:defRPr sz="1700" b="0">
                <a:solidFill>
                  <a:srgbClr val="183347"/>
                </a:solidFill>
                <a:latin typeface="DejaVu Sans"/>
              </a:defRPr>
            </a:pPr>
            <a:r>
              <a:t>el periodo solicitado.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56432" y="2971800"/>
            <a:ext cx="2468880" cy="41148"/>
          </a:xfrm>
          <a:prstGeom prst="rect">
            <a:avLst/>
          </a:prstGeom>
          <a:solidFill>
            <a:srgbClr val="078B9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56432" y="3300984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600" b="0">
                <a:solidFill>
                  <a:srgbClr val="536673"/>
                </a:solidFill>
                <a:latin typeface="DejaVu Sans"/>
              </a:defRPr>
            </a:pPr>
            <a: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6432" y="3995928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78B9E"/>
                </a:solidFill>
                <a:latin typeface="DejaVu Sans"/>
              </a:defRPr>
            </a:pPr>
            <a:r>
              <a:t>REVISA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56432" y="4590288"/>
            <a:ext cx="246888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183347"/>
                </a:solidFill>
                <a:latin typeface="DejaVu Sans"/>
              </a:defRPr>
            </a:pPr>
            <a:r>
              <a:t>La jefatura o RRHH</a:t>
            </a:r>
          </a:p>
          <a:p>
            <a:pPr>
              <a:spcAft>
                <a:spcPts val="800"/>
              </a:spcAft>
              <a:defRPr sz="1700" b="0">
                <a:solidFill>
                  <a:srgbClr val="183347"/>
                </a:solidFill>
                <a:latin typeface="DejaVu Sans"/>
              </a:defRPr>
            </a:pPr>
            <a:r>
              <a:t>revisa la solicitud.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72784" y="2971800"/>
            <a:ext cx="2468880" cy="41148"/>
          </a:xfrm>
          <a:prstGeom prst="rect">
            <a:avLst/>
          </a:prstGeom>
          <a:solidFill>
            <a:srgbClr val="078B9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2784" y="3300984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600" b="0">
                <a:solidFill>
                  <a:srgbClr val="536673"/>
                </a:solidFill>
                <a:latin typeface="DejaVu Sans"/>
              </a:defRPr>
            </a:pPr>
            <a: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2784" y="3995928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78B9E"/>
                </a:solidFill>
                <a:latin typeface="DejaVu Sans"/>
              </a:defRPr>
            </a:pPr>
            <a:r>
              <a:t>RESUELVE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2784" y="4590288"/>
            <a:ext cx="246888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183347"/>
                </a:solidFill>
                <a:latin typeface="DejaVu Sans"/>
              </a:defRPr>
            </a:pPr>
            <a:r>
              <a:t>El responsable aprueba</a:t>
            </a:r>
          </a:p>
          <a:p>
            <a:pPr>
              <a:spcAft>
                <a:spcPts val="800"/>
              </a:spcAft>
              <a:defRPr sz="1700" b="0">
                <a:solidFill>
                  <a:srgbClr val="183347"/>
                </a:solidFill>
                <a:latin typeface="DejaVu Sans"/>
              </a:defRPr>
            </a:pPr>
            <a:r>
              <a:t>o rechaza.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89136" y="2971800"/>
            <a:ext cx="2468880" cy="41148"/>
          </a:xfrm>
          <a:prstGeom prst="rect">
            <a:avLst/>
          </a:prstGeom>
          <a:solidFill>
            <a:srgbClr val="078B9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89136" y="3300984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600" b="0">
                <a:solidFill>
                  <a:srgbClr val="536673"/>
                </a:solidFill>
                <a:latin typeface="DejaVu Sans"/>
              </a:defRPr>
            </a:pPr>
            <a: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89136" y="3995928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78B9E"/>
                </a:solidFill>
                <a:latin typeface="DejaVu Sans"/>
              </a:defRPr>
            </a:pPr>
            <a:r>
              <a:t>CONSULTA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89136" y="4590288"/>
            <a:ext cx="246888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183347"/>
                </a:solidFill>
                <a:latin typeface="DejaVu Sans"/>
              </a:defRPr>
            </a:pPr>
            <a:r>
              <a:t>El colaborador ve</a:t>
            </a:r>
          </a:p>
          <a:p>
            <a:pPr>
              <a:spcAft>
                <a:spcPts val="800"/>
              </a:spcAft>
              <a:defRPr sz="1700" b="0">
                <a:solidFill>
                  <a:srgbClr val="183347"/>
                </a:solidFill>
                <a:latin typeface="DejaVu Sans"/>
              </a:defRPr>
            </a:pPr>
            <a:r>
              <a:t>la respuesta.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704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536673"/>
                </a:solidFill>
                <a:latin typeface="DejaVu Sans"/>
              </a:defRPr>
            </a:pPr>
            <a:r>
              <a:t>El mismo criterio de revisión se aplicará a los permisos y licencias definidos en el alcance.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48056"/>
            <a:ext cx="457200" cy="41148"/>
          </a:xfrm>
          <a:prstGeom prst="rect">
            <a:avLst/>
          </a:prstGeom>
          <a:solidFill>
            <a:srgbClr val="078B9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329184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536673"/>
                </a:solidFill>
                <a:latin typeface="DejaVu Sans"/>
              </a:defRPr>
            </a:pPr>
            <a:r>
              <a:t>SAFE ZONE PERÚ  /  MARKINT</a:t>
            </a:r>
          </a:p>
        </p:txBody>
      </p:sp>
      <p:pic>
        <p:nvPicPr>
          <p:cNvPr id="4" name="Picture 3" descr="icono-safe-z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37744"/>
            <a:ext cx="512064" cy="5120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1024128"/>
            <a:ext cx="1088136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3100" b="1">
                <a:solidFill>
                  <a:srgbClr val="183347"/>
                </a:solidFill>
                <a:latin typeface="DejaVu Sans"/>
              </a:defRPr>
            </a:pPr>
            <a:r>
              <a:t>Planilla y recepción de boletas.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364224"/>
            <a:ext cx="10991088" cy="10972"/>
          </a:xfrm>
          <a:prstGeom prst="rect">
            <a:avLst/>
          </a:prstGeom>
          <a:solidFill>
            <a:srgbClr val="D7E2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492240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536673"/>
                </a:solidFill>
                <a:latin typeface="DejaVu Sans"/>
              </a:defRPr>
            </a:pPr>
            <a:r>
              <a:t>Funciones incluidas · 22 de octubre de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64808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536673"/>
                </a:solidFill>
                <a:latin typeface="DejaVu Sans"/>
              </a:defRPr>
            </a:pPr>
            <a: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5146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78B9E"/>
                </a:solidFill>
                <a:latin typeface="DejaVu Sans"/>
              </a:defRPr>
            </a:pPr>
            <a:r>
              <a:t>CÁLCULO Y REVISIÓN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53512"/>
            <a:ext cx="507492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100" b="0">
                <a:solidFill>
                  <a:srgbClr val="183347"/>
                </a:solidFill>
                <a:latin typeface="DejaVu Sans"/>
              </a:defRPr>
            </a:pPr>
            <a:r>
              <a:t>Haberes, descuentos y beneficios de ley, con reportes para validación contable y archivos bancarios.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514600"/>
            <a:ext cx="58366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78B9E"/>
                </a:solidFill>
                <a:latin typeface="DejaVu Sans"/>
              </a:defRPr>
            </a:pPr>
            <a:r>
              <a:t>DOCUMENTO Y RECEPCIÓN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2953512"/>
            <a:ext cx="507492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100" b="0">
                <a:solidFill>
                  <a:srgbClr val="183347"/>
                </a:solidFill>
                <a:latin typeface="DejaVu Sans"/>
              </a:defRPr>
            </a:pPr>
            <a:r>
              <a:t>El colaborador consulta su boleta y firma la recepción con un trazo en pantalla táctil o con el mouse.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4892040"/>
            <a:ext cx="10991088" cy="9144"/>
          </a:xfrm>
          <a:prstGeom prst="rect">
            <a:avLst/>
          </a:prstGeom>
          <a:solidFill>
            <a:srgbClr val="D7E2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5193792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536673"/>
                </a:solidFill>
                <a:latin typeface="DejaVu Sans"/>
              </a:defRPr>
            </a:pPr>
            <a:r>
              <a:t>La constancia se asociará al documento y al usuario, con fecha, hora e IP de acceso.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48056"/>
            <a:ext cx="457200" cy="41148"/>
          </a:xfrm>
          <a:prstGeom prst="rect">
            <a:avLst/>
          </a:prstGeom>
          <a:solidFill>
            <a:srgbClr val="078B9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329184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536673"/>
                </a:solidFill>
                <a:latin typeface="DejaVu Sans"/>
              </a:defRPr>
            </a:pPr>
            <a:r>
              <a:t>SAFE ZONE PERÚ  /  MARKINT</a:t>
            </a:r>
          </a:p>
        </p:txBody>
      </p:sp>
      <p:pic>
        <p:nvPicPr>
          <p:cNvPr id="4" name="Picture 3" descr="icono-safe-z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37744"/>
            <a:ext cx="512064" cy="5120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1024128"/>
            <a:ext cx="1088136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3100" b="1">
                <a:solidFill>
                  <a:srgbClr val="183347"/>
                </a:solidFill>
                <a:latin typeface="DejaVu Sans"/>
              </a:defRPr>
            </a:pPr>
            <a:r>
              <a:t>Encuestas y comunicación con el personal.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364224"/>
            <a:ext cx="10991088" cy="10972"/>
          </a:xfrm>
          <a:prstGeom prst="rect">
            <a:avLst/>
          </a:prstGeom>
          <a:solidFill>
            <a:srgbClr val="D7E2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492240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536673"/>
                </a:solidFill>
                <a:latin typeface="DejaVu Sans"/>
              </a:defRPr>
            </a:pPr>
            <a:r>
              <a:t>Funciones incluidas · 22 de octubre de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64808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536673"/>
                </a:solidFill>
                <a:latin typeface="DejaVu Sans"/>
              </a:defRPr>
            </a:pPr>
            <a: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9748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78B9E"/>
                </a:solidFill>
                <a:latin typeface="DejaVu Sans"/>
              </a:defRPr>
            </a:pPr>
            <a:r>
              <a:t>Encuestas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37560"/>
            <a:ext cx="507492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100" b="0">
                <a:solidFill>
                  <a:srgbClr val="183347"/>
                </a:solidFill>
                <a:latin typeface="DejaVu Sans"/>
              </a:defRPr>
            </a:pPr>
            <a:r>
              <a:t>Campañas dirigidas por área o sede.</a:t>
            </a:r>
          </a:p>
          <a:p>
            <a:pPr>
              <a:spcAft>
                <a:spcPts val="800"/>
              </a:spcAft>
              <a:defRPr sz="2100" b="0">
                <a:solidFill>
                  <a:srgbClr val="183347"/>
                </a:solidFill>
                <a:latin typeface="DejaVu Sans"/>
              </a:defRPr>
            </a:pPr>
            <a:r>
              <a:t>Reglas de confidencialidad.</a:t>
            </a:r>
          </a:p>
          <a:p>
            <a:pPr>
              <a:spcAft>
                <a:spcPts val="800"/>
              </a:spcAft>
              <a:defRPr sz="2100" b="0">
                <a:solidFill>
                  <a:srgbClr val="183347"/>
                </a:solidFill>
                <a:latin typeface="DejaVu Sans"/>
              </a:defRPr>
            </a:pPr>
            <a:r>
              <a:t>Resultados y planes de acción.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697480"/>
            <a:ext cx="58366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78B9E"/>
                </a:solidFill>
                <a:latin typeface="DejaVu Sans"/>
              </a:defRPr>
            </a:pPr>
            <a:r>
              <a:t>Comunicación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3337560"/>
            <a:ext cx="507492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100" b="0">
                <a:solidFill>
                  <a:srgbClr val="183347"/>
                </a:solidFill>
                <a:latin typeface="DejaVu Sans"/>
              </a:defRPr>
            </a:pPr>
            <a:r>
              <a:t>Avisos para destinatarios seleccionados.</a:t>
            </a:r>
          </a:p>
          <a:p>
            <a:pPr>
              <a:spcAft>
                <a:spcPts val="800"/>
              </a:spcAft>
              <a:defRPr sz="2100" b="0">
                <a:solidFill>
                  <a:srgbClr val="183347"/>
                </a:solidFill>
                <a:latin typeface="DejaVu Sans"/>
              </a:defRPr>
            </a:pPr>
            <a:r>
              <a:t>Notificaciones en plataforma y correo.</a:t>
            </a:r>
          </a:p>
          <a:p>
            <a:pPr>
              <a:spcAft>
                <a:spcPts val="800"/>
              </a:spcAft>
              <a:defRPr sz="2100" b="0">
                <a:solidFill>
                  <a:srgbClr val="183347"/>
                </a:solidFill>
                <a:latin typeface="DejaVu Sans"/>
              </a:defRPr>
            </a:pPr>
            <a:r>
              <a:t>Cobertura de lectura.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48056"/>
            <a:ext cx="457200" cy="41148"/>
          </a:xfrm>
          <a:prstGeom prst="rect">
            <a:avLst/>
          </a:prstGeom>
          <a:solidFill>
            <a:srgbClr val="078B9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329184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536673"/>
                </a:solidFill>
                <a:latin typeface="DejaVu Sans"/>
              </a:defRPr>
            </a:pPr>
            <a:r>
              <a:t>SAFE ZONE PERÚ  /  MARKINT</a:t>
            </a:r>
          </a:p>
        </p:txBody>
      </p:sp>
      <p:pic>
        <p:nvPicPr>
          <p:cNvPr id="4" name="Picture 3" descr="icono-safe-z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37744"/>
            <a:ext cx="512064" cy="5120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1024128"/>
            <a:ext cx="1088136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3100" b="1">
                <a:solidFill>
                  <a:srgbClr val="183347"/>
                </a:solidFill>
                <a:latin typeface="DejaVu Sans"/>
              </a:defRPr>
            </a:pPr>
            <a:r>
              <a:t>Los permisos se definirán por responsabilidad.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364224"/>
            <a:ext cx="10991088" cy="10972"/>
          </a:xfrm>
          <a:prstGeom prst="rect">
            <a:avLst/>
          </a:prstGeom>
          <a:solidFill>
            <a:srgbClr val="D7E2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492240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536673"/>
                </a:solidFill>
                <a:latin typeface="DejaVu Sans"/>
              </a:defRPr>
            </a:pPr>
            <a:r>
              <a:t>Acceso al sistema · 22 de octubre de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64808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536673"/>
                </a:solidFill>
                <a:latin typeface="DejaVu Sans"/>
              </a:defRPr>
            </a:pPr>
            <a: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532888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078B9E"/>
                </a:solidFill>
                <a:latin typeface="DejaVu Sans"/>
              </a:defRPr>
            </a:pPr>
            <a:r>
              <a:t>Administrador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2532888"/>
            <a:ext cx="70408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183347"/>
                </a:solidFill>
                <a:latin typeface="DejaVu Sans"/>
              </a:defRPr>
            </a:pPr>
            <a:r>
              <a:t>Usuarios, perfiles y configuración.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3136392"/>
            <a:ext cx="10991088" cy="9144"/>
          </a:xfrm>
          <a:prstGeom prst="rect">
            <a:avLst/>
          </a:prstGeom>
          <a:solidFill>
            <a:srgbClr val="D7E2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300984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078B9E"/>
                </a:solidFill>
                <a:latin typeface="DejaVu Sans"/>
              </a:defRPr>
            </a:pPr>
            <a:r>
              <a:t>Recursos Humanos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3300984"/>
            <a:ext cx="70408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183347"/>
                </a:solidFill>
                <a:latin typeface="DejaVu Sans"/>
              </a:defRPr>
            </a:pPr>
            <a:r>
              <a:t>Gestión de personal, procesos y reportes.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3904487"/>
            <a:ext cx="10991088" cy="9144"/>
          </a:xfrm>
          <a:prstGeom prst="rect">
            <a:avLst/>
          </a:prstGeom>
          <a:solidFill>
            <a:srgbClr val="D7E2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06908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078B9E"/>
                </a:solidFill>
                <a:latin typeface="DejaVu Sans"/>
              </a:defRPr>
            </a:pPr>
            <a:r>
              <a:t>Jefatura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4069080"/>
            <a:ext cx="70408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183347"/>
                </a:solidFill>
                <a:latin typeface="DejaVu Sans"/>
              </a:defRPr>
            </a:pPr>
            <a:r>
              <a:t>Revisión y resolución de solicitudes.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4672584"/>
            <a:ext cx="10991088" cy="9144"/>
          </a:xfrm>
          <a:prstGeom prst="rect">
            <a:avLst/>
          </a:prstGeom>
          <a:solidFill>
            <a:srgbClr val="D7E2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837176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078B9E"/>
                </a:solidFill>
                <a:latin typeface="DejaVu Sans"/>
              </a:defRPr>
            </a:pPr>
            <a:r>
              <a:t>Empleado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837176"/>
            <a:ext cx="70408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183347"/>
                </a:solidFill>
                <a:latin typeface="DejaVu Sans"/>
              </a:defRPr>
            </a:pPr>
            <a:r>
              <a:t>Solicitudes, boletas, encuestas y comunicados.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5440680"/>
            <a:ext cx="10991088" cy="9144"/>
          </a:xfrm>
          <a:prstGeom prst="rect">
            <a:avLst/>
          </a:prstGeom>
          <a:solidFill>
            <a:srgbClr val="D7E2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48056"/>
            <a:ext cx="457200" cy="41148"/>
          </a:xfrm>
          <a:prstGeom prst="rect">
            <a:avLst/>
          </a:prstGeom>
          <a:solidFill>
            <a:srgbClr val="078B9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329184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536673"/>
                </a:solidFill>
                <a:latin typeface="DejaVu Sans"/>
              </a:defRPr>
            </a:pPr>
            <a:r>
              <a:t>SAFE ZONE PERÚ  /  MARKINT</a:t>
            </a:r>
          </a:p>
        </p:txBody>
      </p:sp>
      <p:pic>
        <p:nvPicPr>
          <p:cNvPr id="4" name="Picture 3" descr="icono-safe-z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37744"/>
            <a:ext cx="512064" cy="5120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1024128"/>
            <a:ext cx="1088136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3100" b="1">
                <a:solidFill>
                  <a:srgbClr val="183347"/>
                </a:solidFill>
                <a:latin typeface="DejaVu Sans"/>
              </a:defRPr>
            </a:pPr>
            <a:r>
              <a:t>Seis semanas de trabajo.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364224"/>
            <a:ext cx="10991088" cy="10972"/>
          </a:xfrm>
          <a:prstGeom prst="rect">
            <a:avLst/>
          </a:prstGeom>
          <a:solidFill>
            <a:srgbClr val="D7E2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492240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536673"/>
                </a:solidFill>
                <a:latin typeface="DejaVu Sans"/>
              </a:defRPr>
            </a:pPr>
            <a:r>
              <a:t>Plazo de implementación · 22 de octubre de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64808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536673"/>
                </a:solidFill>
                <a:latin typeface="DejaVu Sans"/>
              </a:defRPr>
            </a:pPr>
            <a:r>
              <a:t>08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560320"/>
            <a:ext cx="54864" cy="493776"/>
          </a:xfrm>
          <a:prstGeom prst="rect">
            <a:avLst/>
          </a:prstGeom>
          <a:solidFill>
            <a:srgbClr val="078B9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56032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078B9E"/>
                </a:solidFill>
                <a:latin typeface="DejaVu Sans"/>
              </a:defRPr>
            </a:pPr>
            <a:r>
              <a:t>Semanas 1–2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2560320"/>
            <a:ext cx="7680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183347"/>
                </a:solidFill>
                <a:latin typeface="DejaVu Sans"/>
              </a:defRPr>
            </a:pPr>
            <a:r>
              <a:t>Requerimientos, diseño de datos y expediente de personal.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328415"/>
            <a:ext cx="54864" cy="493776"/>
          </a:xfrm>
          <a:prstGeom prst="rect">
            <a:avLst/>
          </a:prstGeom>
          <a:solidFill>
            <a:srgbClr val="078B9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328415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078B9E"/>
                </a:solidFill>
                <a:latin typeface="DejaVu Sans"/>
              </a:defRPr>
            </a:pPr>
            <a:r>
              <a:t>Semanas 3–4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01568" y="3328415"/>
            <a:ext cx="7680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183347"/>
                </a:solidFill>
                <a:latin typeface="DejaVu Sans"/>
              </a:defRPr>
            </a:pPr>
            <a:r>
              <a:t>Asistencia, vacaciones, planilla y reportes.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096511"/>
            <a:ext cx="54864" cy="493776"/>
          </a:xfrm>
          <a:prstGeom prst="rect">
            <a:avLst/>
          </a:prstGeom>
          <a:solidFill>
            <a:srgbClr val="078B9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096511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078B9E"/>
                </a:solidFill>
                <a:latin typeface="DejaVu Sans"/>
              </a:defRPr>
            </a:pPr>
            <a:r>
              <a:t>Semana 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01568" y="4096511"/>
            <a:ext cx="7680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183347"/>
                </a:solidFill>
                <a:latin typeface="DejaVu Sans"/>
              </a:defRPr>
            </a:pPr>
            <a:r>
              <a:t>Firma de recepción, encuestas, comunicación y pruebas.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864608"/>
            <a:ext cx="54864" cy="493776"/>
          </a:xfrm>
          <a:prstGeom prst="rect">
            <a:avLst/>
          </a:prstGeom>
          <a:solidFill>
            <a:srgbClr val="078B9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864608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078B9E"/>
                </a:solidFill>
                <a:latin typeface="DejaVu Sans"/>
              </a:defRPr>
            </a:pPr>
            <a:r>
              <a:t>Semana 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1568" y="4864608"/>
            <a:ext cx="7680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183347"/>
                </a:solidFill>
                <a:latin typeface="DejaVu Sans"/>
              </a:defRPr>
            </a:pPr>
            <a:r>
              <a:t>Pruebas integrales, instalación y capacitación.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48056"/>
            <a:ext cx="457200" cy="41148"/>
          </a:xfrm>
          <a:prstGeom prst="rect">
            <a:avLst/>
          </a:prstGeom>
          <a:solidFill>
            <a:srgbClr val="078B9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329184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536673"/>
                </a:solidFill>
                <a:latin typeface="DejaVu Sans"/>
              </a:defRPr>
            </a:pPr>
            <a:r>
              <a:t>SAFE ZONE PERÚ  /  MARKINT</a:t>
            </a:r>
          </a:p>
        </p:txBody>
      </p:sp>
      <p:pic>
        <p:nvPicPr>
          <p:cNvPr id="4" name="Picture 3" descr="icono-safe-z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37744"/>
            <a:ext cx="512064" cy="5120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1024128"/>
            <a:ext cx="1088136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3100" b="1">
                <a:solidFill>
                  <a:srgbClr val="183347"/>
                </a:solidFill>
                <a:latin typeface="DejaVu Sans"/>
              </a:defRPr>
            </a:pPr>
            <a:r>
              <a:t>Inversión del proyecto.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364224"/>
            <a:ext cx="10991088" cy="10972"/>
          </a:xfrm>
          <a:prstGeom prst="rect">
            <a:avLst/>
          </a:prstGeom>
          <a:solidFill>
            <a:srgbClr val="D7E2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492240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536673"/>
                </a:solidFill>
                <a:latin typeface="DejaVu Sans"/>
              </a:defRPr>
            </a:pPr>
            <a:r>
              <a:t>Propuesta económica · 22 de octubre de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64808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536673"/>
                </a:solidFill>
                <a:latin typeface="DejaVu Sans"/>
              </a:defRPr>
            </a:pPr>
            <a: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6888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3800" b="1">
                <a:solidFill>
                  <a:srgbClr val="183347"/>
                </a:solidFill>
                <a:latin typeface="DejaVu Sans"/>
              </a:defRPr>
            </a:pPr>
            <a:r>
              <a:t>S/ 3,500.00 PEN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918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536673"/>
                </a:solidFill>
                <a:latin typeface="DejaVu Sans"/>
              </a:defRPr>
            </a:pPr>
            <a:r>
              <a:t>Monto fijo por el desarrollo descrito. Sin cobro por colaborador.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133087"/>
            <a:ext cx="3337560" cy="13716"/>
          </a:xfrm>
          <a:prstGeom prst="rect">
            <a:avLst/>
          </a:prstGeom>
          <a:solidFill>
            <a:srgbClr val="D7E2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434840"/>
            <a:ext cx="33375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900" b="1">
                <a:solidFill>
                  <a:srgbClr val="078B9E"/>
                </a:solidFill>
                <a:latin typeface="DejaVu Sans"/>
              </a:defRPr>
            </a:pPr>
            <a:r>
              <a:t>S/ 1,400 · 40 %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074920"/>
            <a:ext cx="333756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83347"/>
                </a:solidFill>
                <a:latin typeface="DejaVu Sans"/>
              </a:defRPr>
            </a:pPr>
            <a:r>
              <a:t>Aceptación e inicio.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70832" y="4133087"/>
            <a:ext cx="3337560" cy="13716"/>
          </a:xfrm>
          <a:prstGeom prst="rect">
            <a:avLst/>
          </a:prstGeom>
          <a:solidFill>
            <a:srgbClr val="D7E2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70832" y="4434840"/>
            <a:ext cx="33375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900" b="1">
                <a:solidFill>
                  <a:srgbClr val="078B9E"/>
                </a:solidFill>
                <a:latin typeface="DejaVu Sans"/>
              </a:defRPr>
            </a:pPr>
            <a:r>
              <a:t>S/ 1,050 · 30 %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0832" y="5074920"/>
            <a:ext cx="333756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83347"/>
                </a:solidFill>
                <a:latin typeface="DejaVu Sans"/>
              </a:defRPr>
            </a:pPr>
            <a:r>
              <a:t>Demo de Personal,</a:t>
            </a:r>
          </a:p>
          <a:p>
            <a:pPr>
              <a:spcAft>
                <a:spcPts val="800"/>
              </a:spcAft>
              <a:defRPr sz="1600" b="0">
                <a:solidFill>
                  <a:srgbClr val="183347"/>
                </a:solidFill>
                <a:latin typeface="DejaVu Sans"/>
              </a:defRPr>
            </a:pPr>
            <a:r>
              <a:t>Asistencias y Planilla.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01583" y="4133087"/>
            <a:ext cx="3337560" cy="13716"/>
          </a:xfrm>
          <a:prstGeom prst="rect">
            <a:avLst/>
          </a:prstGeom>
          <a:solidFill>
            <a:srgbClr val="D7E2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01583" y="4434840"/>
            <a:ext cx="33375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900" b="1">
                <a:solidFill>
                  <a:srgbClr val="078B9E"/>
                </a:solidFill>
                <a:latin typeface="DejaVu Sans"/>
              </a:defRPr>
            </a:pPr>
            <a:r>
              <a:t>S/ 1,050 · 30 %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01583" y="5074920"/>
            <a:ext cx="333756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83347"/>
                </a:solidFill>
                <a:latin typeface="DejaVu Sans"/>
              </a:defRPr>
            </a:pPr>
            <a:r>
              <a:t>Entrega, pruebas</a:t>
            </a:r>
          </a:p>
          <a:p>
            <a:pPr>
              <a:spcAft>
                <a:spcPts val="800"/>
              </a:spcAft>
              <a:defRPr sz="1600" b="0">
                <a:solidFill>
                  <a:srgbClr val="183347"/>
                </a:solidFill>
                <a:latin typeface="DejaVu Sans"/>
              </a:defRPr>
            </a:pPr>
            <a:r>
              <a:t>y capacitación finalizadas.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48056"/>
            <a:ext cx="457200" cy="41148"/>
          </a:xfrm>
          <a:prstGeom prst="rect">
            <a:avLst/>
          </a:prstGeom>
          <a:solidFill>
            <a:srgbClr val="078B9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329184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536673"/>
                </a:solidFill>
                <a:latin typeface="DejaVu Sans"/>
              </a:defRPr>
            </a:pPr>
            <a:r>
              <a:t>SAFE ZONE PERÚ  /  MARKINT</a:t>
            </a:r>
          </a:p>
        </p:txBody>
      </p:sp>
      <p:pic>
        <p:nvPicPr>
          <p:cNvPr id="4" name="Picture 3" descr="icono-safe-z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37744"/>
            <a:ext cx="512064" cy="5120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1024128"/>
            <a:ext cx="1088136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3100" b="1">
                <a:solidFill>
                  <a:srgbClr val="183347"/>
                </a:solidFill>
                <a:latin typeface="DejaVu Sans"/>
              </a:defRPr>
            </a:pPr>
            <a:r>
              <a:t>Entrega y acompañamiento.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364224"/>
            <a:ext cx="10991088" cy="10972"/>
          </a:xfrm>
          <a:prstGeom prst="rect">
            <a:avLst/>
          </a:prstGeom>
          <a:solidFill>
            <a:srgbClr val="D7E2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492240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536673"/>
                </a:solidFill>
                <a:latin typeface="DejaVu Sans"/>
              </a:defRPr>
            </a:pPr>
            <a:r>
              <a:t>Condiciones del servicio · 22 de octubre de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64808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536673"/>
                </a:solidFill>
                <a:latin typeface="DejaVu Sans"/>
              </a:defRPr>
            </a:pPr>
            <a: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4144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78B9E"/>
                </a:solidFill>
                <a:latin typeface="DejaVu Sans"/>
              </a:defRPr>
            </a:pPr>
            <a:r>
              <a:t>Sistema en producción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834640"/>
            <a:ext cx="106070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183347"/>
                </a:solidFill>
                <a:latin typeface="DejaVu Sans"/>
              </a:defRPr>
            </a:pPr>
            <a:r>
              <a:t>Plataforma instalada y funcionando en el servidor contratado por MARKINT.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40156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78B9E"/>
                </a:solidFill>
                <a:latin typeface="DejaVu Sans"/>
              </a:defRPr>
            </a:pPr>
            <a:r>
              <a:t>Código y capacitación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94759"/>
            <a:ext cx="106070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183347"/>
                </a:solidFill>
                <a:latin typeface="DejaVu Sans"/>
              </a:defRPr>
            </a:pPr>
            <a:r>
              <a:t>Código documentado, scripts de base de datos y capacitación del equipo.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36168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78B9E"/>
                </a:solidFill>
                <a:latin typeface="DejaVu Sans"/>
              </a:defRPr>
            </a:pPr>
            <a:r>
              <a:t>Garantía de 60 días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754879"/>
            <a:ext cx="106070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183347"/>
                </a:solidFill>
                <a:latin typeface="DejaVu Sans"/>
              </a:defRPr>
            </a:pPr>
            <a:r>
              <a:t>Corrección de incidencias del desarrollo dentro del alcance contratado.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715000"/>
            <a:ext cx="106070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536673"/>
                </a:solidFill>
                <a:latin typeface="DejaVu Sans"/>
              </a:defRPr>
            </a:pPr>
            <a:r>
              <a:t>El alojamiento cloud es asumido por MARKINT. Propuesta válida por 15 días desde su emisión.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MARKINT — Propuesta de desarrollo de Recursos Humanos</dc:title>
  <dc:subject/>
  <dc:creator>Safe Zone Perú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