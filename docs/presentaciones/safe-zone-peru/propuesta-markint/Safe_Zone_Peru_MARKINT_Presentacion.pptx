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 Safe Zone Perú y el alcance propuesto: plataforma desarrollada desde cero, seis semanas y S/ 3,500 de inversión fija. La firma por trazo se describe como firma electrónica de recepción.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los beneficios operativos sin prometer resultados cuantitativos que no se han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los módulos como un conjunto integrado. Seguridad y permisos es una función transversal.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expediente, horarios y marcas, horas extra e incidencias. La integración directa con relojes físicos está fuera del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Describir solicitudes en línea y aprobación o rechazo según perfil y responsabilidades.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cálculo y consolidación de haberes, descuentos y beneficios de ley. Los parámetros y archivos bancarios se validan con el responsable contable del cliente antes del uso en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Hablar de firma electrónica por trazo, sin atribuirle certificación digital. El alcance es la recepción de boletas con trazabilidad de usuario, documento, fecha, hora e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nuevo alcance incluye campañas segmentadas, confidencialidad y seguimiento de planes de acción, además de comunicados y cobertura de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la matriz de permisos durante el levantamiento. Los ejemplos describen el propósito de cada perfil; los permisos concretos se validan con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semanas para definición y personal, dos para asistencia, vacaciones y planilla, una para complementos y una para pruebas, despliegue y capacitación. El inicio depende de aceptación, pago inicial e información necesaria.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inversión fija de S/ 3,500 y el esquema de pago: 40 % al inicio, 30 % con el avance funcional y 30 % contra entrega. El alojamiento y la infraestructura serán asumidos directamente por MARKINT.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Entregables: plataforma configurada y funcional, código documentado, scripts de base de datos y capacitación. Garantía de 60 días para errores dentro del alcance contratado.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propuesta tiene validez de 15 días desde el 22 de octubre de 2026. El cliente asume VPS e infraestructura. Se excluyen integración directa con relojes biométricos y aplicación nativa; la web es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SISTEMA INTEGRAL DE GESTIÓN DE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Personas y procesos,</a:t>
            </a:r>
          </a:p>
          <a:p>
            <a:pPr>
              <a:spcAft>
                <a:spcPts val="70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conectados en una plataforma.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5E7ED"/>
                </a:solidFill>
                <a:latin typeface="DejaVu Sans"/>
              </a:defRPr>
            </a:pPr>
            <a:r>
              <a:t>Una solución web desarrollada a medida para MARKINT.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9C2D1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3493008" cy="169164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30358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6 semanas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82896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5E7ED"/>
                </a:solidFill>
                <a:latin typeface="DejaVu Sans"/>
              </a:defRPr>
            </a:pPr>
            <a:r>
              <a:t>Plazo estimado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3840480"/>
            <a:ext cx="3493008" cy="169164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4114800"/>
            <a:ext cx="30358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S/ 3,500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4882896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5E7ED"/>
                </a:solidFill>
                <a:latin typeface="DejaVu Sans"/>
              </a:defRPr>
            </a:pPr>
            <a:r>
              <a:t>Inversión fija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840480"/>
            <a:ext cx="3630168" cy="169164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14800"/>
            <a:ext cx="3172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60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4882896"/>
            <a:ext cx="3172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5E7ED"/>
                </a:solidFill>
                <a:latin typeface="DejaVu Sans"/>
              </a:defRPr>
            </a:pPr>
            <a:r>
              <a:t>Garantía posterior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EL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Una gestión de personal centralizada.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Información disponible para cada usuario según su responsabilidad.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3931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ORGANIZAR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70248"/>
            <a:ext cx="3118104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Expedientes, contratos, documentos e historial del personal.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342900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363931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AGILIZAR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4270248"/>
            <a:ext cx="3118104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Horarios, asistencia, solicitudes y validaciones administrativas.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429000"/>
            <a:ext cx="363016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639312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CONECTAR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70248"/>
            <a:ext cx="3227832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Planilla, boletas, encuestas y comunicación interna.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ALCANCE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Los módulos de la solución.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Procesos conectados mediante perfiles y permisos de acceso.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19272"/>
            <a:ext cx="54132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6557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564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149"/>
                </a:solidFill>
                <a:latin typeface="DejaVu Sans"/>
              </a:defRPr>
            </a:pPr>
            <a:r>
              <a:t>Expediente digital de personal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319272"/>
            <a:ext cx="54132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3" y="346557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34564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149"/>
                </a:solidFill>
                <a:latin typeface="DejaVu Sans"/>
              </a:defRPr>
            </a:pPr>
            <a:r>
              <a:t>Asistencia e incidencias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96511"/>
            <a:ext cx="54132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428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3367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149"/>
                </a:solidFill>
                <a:latin typeface="DejaVu Sans"/>
              </a:defRPr>
            </a:pPr>
            <a:r>
              <a:t>Vacaciones y licencias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096511"/>
            <a:ext cx="54132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3" y="42428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423367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149"/>
                </a:solidFill>
                <a:latin typeface="DejaVu Sans"/>
              </a:defRPr>
            </a:pPr>
            <a:r>
              <a:t>Planilla, documentos y firma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73752"/>
            <a:ext cx="54132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0200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1091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149"/>
                </a:solidFill>
                <a:latin typeface="DejaVu Sans"/>
              </a:defRPr>
            </a:pPr>
            <a:r>
              <a:t>Encuestas y clima laboral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4873752"/>
            <a:ext cx="54132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3" y="50200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1" y="501091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3149"/>
                </a:solidFill>
                <a:latin typeface="DejaVu Sans"/>
              </a:defRPr>
            </a:pPr>
            <a:r>
              <a:t>Comunicación interna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81558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1697D"/>
                </a:solidFill>
                <a:latin typeface="DejaVu Sans"/>
              </a:defRPr>
            </a:pPr>
            <a:r>
              <a:t>Seguridad transversal: Administrador · RRHH · Jefatura · Empleado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PERSONAL Y ASISTENCIA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Del expediente al control diario.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La base operativa para gestionar la información y las incidencias.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41324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93592"/>
            <a:ext cx="5010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EXPEDIENTE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24528"/>
            <a:ext cx="5010912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Datos de colaboradores, contratos, cargos, áreas, sedes e historial de movimientos.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3383280"/>
            <a:ext cx="540410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593592"/>
            <a:ext cx="50017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CONTROL DE ASISTENCIA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224528"/>
            <a:ext cx="5001768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Horarios, entradas y salidas, tardanzas, horas extra e incidencias.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VACACIONES Y LICENCIAS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Solicitudes con un flujo definido.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El colaborador solicita; la jefatura o RRHH revisa y resuelve.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A6BB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525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0283F"/>
                </a:solidFill>
                <a:latin typeface="DejaVu Sans"/>
              </a:defRPr>
            </a:pPr>
            <a:r>
              <a:t>SOLICITUD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892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El colaborador registra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su solicitud en línea.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34747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369417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A6BB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3525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0283F"/>
                </a:solidFill>
                <a:latin typeface="DejaVu Sans"/>
              </a:defRPr>
            </a:pPr>
            <a:r>
              <a:t>REVISIÓN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892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La jefatura o RRHH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revisa la información.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4747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69417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A6BB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3525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0283F"/>
                </a:solidFill>
                <a:latin typeface="DejaVu Sans"/>
              </a:defRPr>
            </a:pPr>
            <a:r>
              <a:t>RESPUESTA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8920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Aprobación o rechazo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y consulta del estado.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PLANILLA Y DOCUMENTOS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Cálculo, validación y organización.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Información lista para revisión contable y gestión de pagos.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9359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CÁLCULO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24528"/>
            <a:ext cx="3118104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Haberes, descuentos y beneficios de ley para consolidación de planilla.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338328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359359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VALIDACIÓN CONTABLE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4224528"/>
            <a:ext cx="3118104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Revisión de resultados, reportes y generación de archivos bancarios.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383280"/>
            <a:ext cx="363016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593592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GESTIÓN DOCUMENTAL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24528"/>
            <a:ext cx="3227832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Carga y organización de boletas y documentos de cada colaborador.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FIRMA ELECTRÓNICA DE RECEPCIÓN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La boleta, el trazo y su constancia.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5E7ED"/>
                </a:solidFill>
                <a:latin typeface="DejaVu Sans"/>
              </a:defRPr>
            </a:pPr>
            <a:r>
              <a:t>Firma directa con pantalla táctil o mouse, asociada al usuario y al documento.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9C2D1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5577840" cy="237744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3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B5E7ED"/>
                </a:solidFill>
                <a:latin typeface="DejaVu Sans"/>
              </a:defRPr>
            </a:pPr>
            <a:r>
              <a:t>FIRMA EN PANTALLA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3891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El colaborador firma</a:t>
            </a:r>
          </a:p>
          <a:p>
            <a:pPr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la recepción de su boleta.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47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IDENTIDAD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40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Usuario y documento asociados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3251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MOMENTO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Fecha y hora registradas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1023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ACCESO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394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IP de acceso registrada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ENCUESTAS Y COMUNICACIÓN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Escuchar e informar al personal.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Herramientas para conocer opiniones y compartir información relevante.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41324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93592"/>
            <a:ext cx="5010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ENCUESTAS Y CLIMA LABORAL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24528"/>
            <a:ext cx="5010912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Campañas por áreas o sedes, reglas de confidencialidad y seguimiento de planes de acción.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3383280"/>
            <a:ext cx="540410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593592"/>
            <a:ext cx="50017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COMUNICACIÓN INTERNA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224528"/>
            <a:ext cx="5001768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Avisos segmentados, notificaciones en plataforma y correo, y cobertura de lectura.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SEGURIDAD Y ACCESO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Una función para cada responsabilidad.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Perfiles diferenciados para administrar, revisar y participar.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2596896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5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ADMINISTRADOR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Usuarios, perfiles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y configuración.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3520440"/>
            <a:ext cx="2596896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3785615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RECURSOS HUMANOS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617720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Gestión y seguimiento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de los procesos.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520440"/>
            <a:ext cx="2596896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85615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JEFATURA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617720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Revisión y aprobación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de solicitudes.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520440"/>
            <a:ext cx="2596896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3785615"/>
            <a:ext cx="22311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A6BB"/>
                </a:solidFill>
                <a:latin typeface="DejaVu Sans"/>
              </a:defRPr>
            </a:pPr>
            <a:r>
              <a:t>EMPLEADO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4617720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Solicitudes, boletas</a:t>
            </a:r>
          </a:p>
          <a:p>
            <a:pPr>
              <a:spcAft>
                <a:spcPts val="700"/>
              </a:spcAft>
              <a:defRPr sz="1600" b="0">
                <a:solidFill>
                  <a:srgbClr val="173149"/>
                </a:solidFill>
                <a:latin typeface="DejaVu Sans"/>
              </a:defRPr>
            </a:pPr>
            <a:r>
              <a:t>y participación.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CRONOGRAMA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Seis semanas de implementación.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Entregas funcionales y revisión con el equipo de MARKINT.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39242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Semanas 1 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328415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3149"/>
                </a:solidFill>
                <a:latin typeface="DejaVu Sans"/>
              </a:defRPr>
            </a:pPr>
            <a:r>
              <a:t>Levantamiento detallado de requerimientos, diseño de la base de datos y desarrollo del expediente de personal.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41063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873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Semanas 3 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023359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3149"/>
                </a:solidFill>
                <a:latin typeface="DejaVu Sans"/>
              </a:defRPr>
            </a:pPr>
            <a:r>
              <a:t>Desarrollo de asistencia, vacaciones y lógica de planilla con generación de reportes.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36008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78231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Semana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718304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3149"/>
                </a:solidFill>
                <a:latin typeface="DejaVu Sans"/>
              </a:defRPr>
            </a:pPr>
            <a:r>
              <a:t>Integración de firma táctil, encuestas y comunicación interna; pruebas de flujo.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3095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47725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Semana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413248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3149"/>
                </a:solidFill>
                <a:latin typeface="DejaVu Sans"/>
              </a:defRPr>
            </a:pPr>
            <a:r>
              <a:t>Pruebas integrales de calidad, despliegue en producción y capacitación al personal.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S/ 3,500.00 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5E7ED"/>
                </a:solidFill>
                <a:latin typeface="DejaVu Sans"/>
              </a:defRPr>
            </a:pPr>
            <a:r>
              <a:t>Monto fijo por el desarrollo a medida. Sin cobro por colaborador.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9C2D1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3520440" cy="242316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6941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8A6BB"/>
                </a:solidFill>
                <a:latin typeface="DejaVu Sans"/>
              </a:defRPr>
            </a:pPr>
            <a:r>
              <a:t>40 %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27939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S/ 1,400.00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8920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DejaVu Sans"/>
              </a:defRPr>
            </a:pPr>
            <a:r>
              <a:t>A la aceptación de la propuesta y reunión de inicio del proyecto.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3474720"/>
            <a:ext cx="3520440" cy="242316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36941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8A6BB"/>
                </a:solidFill>
                <a:latin typeface="DejaVu Sans"/>
              </a:defRPr>
            </a:pPr>
            <a:r>
              <a:t>30 %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427939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S/ 1,050.00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48920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DejaVu Sans"/>
              </a:defRPr>
            </a:pPr>
            <a:r>
              <a:t>A la presentación del avance funcional de Personal, Asistencias y Planilla.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474720"/>
            <a:ext cx="3520440" cy="242316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36941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8A6BB"/>
                </a:solidFill>
                <a:latin typeface="DejaVu Sans"/>
              </a:defRPr>
            </a:pPr>
            <a:r>
              <a:t>30 %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427939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S/ 1,050.00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8920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DejaVu Sans"/>
              </a:defRPr>
            </a:pPr>
            <a:r>
              <a:t>Contra entrega del sistema desplegado, probado y con capacitación finalizada.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ENTREGA Y GARANTÍA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0283F"/>
                </a:solidFill>
                <a:latin typeface="DejaVu Sans"/>
              </a:defRPr>
            </a:pPr>
            <a:r>
              <a:t>Implementación con acompañamiento.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1697D"/>
                </a:solidFill>
                <a:latin typeface="DejaVu Sans"/>
              </a:defRPr>
            </a:pPr>
            <a:r>
              <a:t>Un sistema en producción y un equipo preparado para utilizarlo.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D6E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1697D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9359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24528"/>
            <a:ext cx="3118104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Plataforma web en producción, código fuente documentado y scripts de base de datos.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338328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359359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CAPACITACIÓN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4224528"/>
            <a:ext cx="3118104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Sesión para el equipo administrador y los colaboradores.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383280"/>
            <a:ext cx="3630168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593592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A6BB"/>
                </a:solidFill>
                <a:latin typeface="DejaVu Sans"/>
              </a:defRPr>
            </a:pPr>
            <a:r>
              <a:t>GARANTÍA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24528"/>
            <a:ext cx="3227832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3149"/>
                </a:solidFill>
                <a:latin typeface="DejaVu Sans"/>
              </a:defRPr>
            </a:pPr>
            <a:r>
              <a:t>60 días calendario desde la puesta en marcha para corregir incidencias sin costo adicional.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A6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SAFE ZONE PERÚ   /   MARKINT</a:t>
            </a:r>
          </a:p>
        </p:txBody>
      </p:sp>
      <p:pic>
        <p:nvPicPr>
          <p:cNvPr id="4" name="Picture 3" descr="icono-safe-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56032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0525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8A6BB"/>
                </a:solidFill>
                <a:latin typeface="DejaVu Sans"/>
              </a:defRPr>
            </a:pPr>
            <a:r>
              <a:t>CONDICIONES DE LA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Listos para iniciar el proyecto.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5E7ED"/>
                </a:solidFill>
                <a:latin typeface="DejaVu Sans"/>
              </a:defRPr>
            </a:pPr>
            <a:r>
              <a:t>Safe Zone Perú  |  Sistema Integral de Gestión de RRHH para MARKINT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18520" cy="10972"/>
          </a:xfrm>
          <a:prstGeom prst="rect">
            <a:avLst/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9C2D1"/>
                </a:solidFill>
                <a:latin typeface="DejaVu Sans"/>
              </a:defRPr>
            </a:pPr>
            <a:r>
              <a:t>PROPUESTA TÉCNICA Y COMERCIAL  ·  22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8A6BB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5413248" cy="237744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85032"/>
            <a:ext cx="5010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B5E7ED"/>
                </a:solidFill>
                <a:latin typeface="DejaVu Sans"/>
              </a:defRPr>
            </a:pPr>
            <a:r>
              <a:t>ALCANCE DE IMPLEMENTACIÓN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15968"/>
            <a:ext cx="501091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Web adaptable a dispositivos móviles. Alojamiento VPS e infraestructura cloud a cargo de MARKINT.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3474720"/>
            <a:ext cx="5404104" cy="2377440"/>
          </a:xfrm>
          <a:prstGeom prst="roundRect">
            <a:avLst>
              <a:gd name="adj" fmla="val 12000"/>
            </a:avLst>
          </a:prstGeom>
          <a:solidFill>
            <a:srgbClr val="19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685032"/>
            <a:ext cx="50017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B5E7ED"/>
                </a:solidFill>
                <a:latin typeface="DejaVu Sans"/>
              </a:defRPr>
            </a:pPr>
            <a:r>
              <a:t>FORMALIZACIÓN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315968"/>
            <a:ext cx="5001768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Validez: 15 días desde la emisión. Inicio con aceptación, pago inicial e información requerida.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5E7ED"/>
                </a:solidFill>
                <a:latin typeface="DejaVu Sans"/>
              </a:defRPr>
            </a:pPr>
            <a:r>
              <a:t>No incluye integración directa con relojes biométricos físicos ni aplicación móvil nativa.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Integral de Gestión de RRHH — MARKINT</dc:title>
  <dc:subject/>
  <dc:creator>Safe Zone Perú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