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Abrir con el valor para MARKINT: procesos adaptados a su operación, información organizada y participación del equipo. La inversión se presenta después de explicar la solución y el alcance.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MARKINT ya trabaja con Buk. Reconocer esa experiencia y presentar la propuesta a medida. El papel futuro de Buk se definirá con MARKINT; no se ha comprometido una integración ni un reemplazo automático.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Recorrer los módulos como un conjunto integrado. Seguridad y permisos es una función transversal.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Explicar expediente, horarios y marcas, horas extra e incidencias. La integración directa con relojes físicos está fuera del alcance.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Describir solicitudes en línea y aprobación o rechazo según perfil y responsabilidades.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Explicar el cálculo y consolidación de haberes, descuentos y beneficios de ley. Los parámetros y archivos bancarios se validan con el responsable contable del cliente antes del uso en producción.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Hablar de firma electrónica por trazo, sin atribuirle certificación digital. El alcance es la recepción de boletas con trazabilidad de usuario, documento, fecha, hora e IP.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El nuevo alcance incluye campañas segmentadas, confidencialidad y seguimiento de planes de acción, además de comunicados y cobertura de lectura.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Definir la matriz de permisos durante el levantamiento. Los ejemplos describen el propósito de cada perfil; los permisos concretos se validan con el cliente.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Dos semanas para definición y personal, dos para asistencia, vacaciones y planilla, una para complementos y una para pruebas, despliegue y capacitación. El inicio depende de aceptación, pago inicial e información necesaria.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Presentar la inversión de S/ 3,500 después del alcance y el cronograma. Explicar los pagos de 40 %, 30 % y 30 %. El alojamiento y la infraestructura serán asumidos directamente por MARKINT.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Entregables: plataforma configurada y funcional, código documentado, scripts de base de datos y capacitación. Garantía de 60 días para errores dentro del alcance contratado.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La propuesta tiene validez de 15 días desde el 22 de octubre de 2026. El cliente asume VPS e infraestructura. Se excluyen integración directa con relojes biométricos y aplicación nativa; la web es responsive.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83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08A6B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30352" y="310896"/>
            <a:ext cx="914400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700"/>
              </a:spcAft>
              <a:defRPr sz="1000" b="1">
                <a:solidFill>
                  <a:srgbClr val="08A6BB"/>
                </a:solidFill>
                <a:latin typeface="DejaVu Sans"/>
              </a:defRPr>
            </a:pPr>
            <a:r>
              <a:t>SAFE ZONE PERÚ   /   MARKINT</a:t>
            </a:r>
          </a:p>
        </p:txBody>
      </p:sp>
      <p:pic>
        <p:nvPicPr>
          <p:cNvPr id="4" name="Picture 3" descr="icono-safe-zon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18520" y="256032"/>
            <a:ext cx="566928" cy="566928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48640" y="905256"/>
            <a:ext cx="1088136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700"/>
              </a:spcAft>
              <a:defRPr sz="1100" b="1">
                <a:solidFill>
                  <a:srgbClr val="08A6BB"/>
                </a:solidFill>
                <a:latin typeface="DejaVu Sans"/>
              </a:defRPr>
            </a:pPr>
            <a:r>
              <a:t>UNA PLATAFORMA PROPIA DE RECURSOS HUMANOS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353312"/>
            <a:ext cx="10972800" cy="1143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700"/>
              </a:spcAft>
              <a:defRPr sz="3300" b="1">
                <a:solidFill>
                  <a:srgbClr val="FFFFFF"/>
                </a:solidFill>
                <a:latin typeface="DejaVu Sans"/>
              </a:defRPr>
            </a:pPr>
            <a:r>
              <a:t>La gestión de su equipo,</a:t>
            </a:r>
          </a:p>
          <a:p>
            <a:pPr>
              <a:spcAft>
                <a:spcPts val="700"/>
              </a:spcAft>
              <a:defRPr sz="3300" b="1">
                <a:solidFill>
                  <a:srgbClr val="FFFFFF"/>
                </a:solidFill>
                <a:latin typeface="DejaVu Sans"/>
              </a:defRPr>
            </a:pPr>
            <a:r>
              <a:t>diseñada para MARKINT.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2532888"/>
            <a:ext cx="10881360" cy="594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700"/>
              </a:spcAft>
              <a:defRPr sz="1600" b="0">
                <a:solidFill>
                  <a:srgbClr val="B5E7ED"/>
                </a:solidFill>
                <a:latin typeface="DejaVu Sans"/>
              </a:defRPr>
            </a:pPr>
            <a:r>
              <a:t>Procesos a su medida. Información organizada. Un equipo conectado.</a:t>
            </a:r>
          </a:p>
        </p:txBody>
      </p:sp>
      <p:sp>
        <p:nvSpPr>
          <p:cNvPr id="8" name="Rectangle 7"/>
          <p:cNvSpPr/>
          <p:nvPr/>
        </p:nvSpPr>
        <p:spPr>
          <a:xfrm>
            <a:off x="548640" y="6382512"/>
            <a:ext cx="11018520" cy="10972"/>
          </a:xfrm>
          <a:prstGeom prst="rect">
            <a:avLst/>
          </a:prstGeom>
          <a:solidFill>
            <a:srgbClr val="193A5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48640" y="6519672"/>
            <a:ext cx="1005840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700"/>
              </a:spcAft>
              <a:defRPr sz="800" b="0">
                <a:solidFill>
                  <a:srgbClr val="A9C2D1"/>
                </a:solidFill>
                <a:latin typeface="DejaVu Sans"/>
              </a:defRPr>
            </a:pPr>
            <a:r>
              <a:t>PROPUESTA TÉCNICA Y COMERCIAL  ·  22 OCT 2026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064240" y="6473952"/>
            <a:ext cx="4572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700"/>
              </a:spcAft>
              <a:defRPr sz="1000" b="1">
                <a:solidFill>
                  <a:srgbClr val="08A6BB"/>
                </a:solidFill>
                <a:latin typeface="DejaVu Sans"/>
              </a:defRPr>
            </a:pPr>
            <a:r>
              <a:t>01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48640" y="3840480"/>
            <a:ext cx="3493008" cy="1691640"/>
          </a:xfrm>
          <a:prstGeom prst="roundRect">
            <a:avLst>
              <a:gd name="adj" fmla="val 12000"/>
            </a:avLst>
          </a:prstGeom>
          <a:solidFill>
            <a:srgbClr val="193A5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77240" y="4114800"/>
            <a:ext cx="3035808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700"/>
              </a:spcAft>
              <a:defRPr sz="1800" b="1">
                <a:solidFill>
                  <a:srgbClr val="B5E7ED"/>
                </a:solidFill>
                <a:latin typeface="DejaVu Sans"/>
              </a:defRPr>
            </a:pPr>
            <a:r>
              <a:t>A SU MEDIDA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4718304"/>
            <a:ext cx="3035808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700"/>
              </a:spcAft>
              <a:defRPr sz="1600" b="0">
                <a:solidFill>
                  <a:srgbClr val="FFFFFF"/>
                </a:solidFill>
                <a:latin typeface="DejaVu Sans"/>
              </a:defRPr>
            </a:pPr>
            <a:r>
              <a:t>Procesos y permisos</a:t>
            </a:r>
          </a:p>
          <a:p>
            <a:pPr>
              <a:spcAft>
                <a:spcPts val="700"/>
              </a:spcAft>
              <a:defRPr sz="1600" b="0">
                <a:solidFill>
                  <a:srgbClr val="FFFFFF"/>
                </a:solidFill>
                <a:latin typeface="DejaVu Sans"/>
              </a:defRPr>
            </a:pPr>
            <a:r>
              <a:t>para su operación.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242816" y="3840480"/>
            <a:ext cx="3493008" cy="1691640"/>
          </a:xfrm>
          <a:prstGeom prst="roundRect">
            <a:avLst>
              <a:gd name="adj" fmla="val 12000"/>
            </a:avLst>
          </a:prstGeom>
          <a:solidFill>
            <a:srgbClr val="193A5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471416" y="4114800"/>
            <a:ext cx="3035808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700"/>
              </a:spcAft>
              <a:defRPr sz="1800" b="1">
                <a:solidFill>
                  <a:srgbClr val="B5E7ED"/>
                </a:solidFill>
                <a:latin typeface="DejaVu Sans"/>
              </a:defRPr>
            </a:pPr>
            <a:r>
              <a:t>TODO CONECTADO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471416" y="4718304"/>
            <a:ext cx="3035808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700"/>
              </a:spcAft>
              <a:defRPr sz="1600" b="0">
                <a:solidFill>
                  <a:srgbClr val="FFFFFF"/>
                </a:solidFill>
                <a:latin typeface="DejaVu Sans"/>
              </a:defRPr>
            </a:pPr>
            <a:r>
              <a:t>Información para gestionar</a:t>
            </a:r>
          </a:p>
          <a:p>
            <a:pPr>
              <a:spcAft>
                <a:spcPts val="700"/>
              </a:spcAft>
              <a:defRPr sz="1600" b="0">
                <a:solidFill>
                  <a:srgbClr val="FFFFFF"/>
                </a:solidFill>
                <a:latin typeface="DejaVu Sans"/>
              </a:defRPr>
            </a:pPr>
            <a:r>
              <a:t>y tomar decisiones.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936992" y="3840480"/>
            <a:ext cx="3630168" cy="1691640"/>
          </a:xfrm>
          <a:prstGeom prst="roundRect">
            <a:avLst>
              <a:gd name="adj" fmla="val 12000"/>
            </a:avLst>
          </a:prstGeom>
          <a:solidFill>
            <a:srgbClr val="193A5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165592" y="4114800"/>
            <a:ext cx="3172968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700"/>
              </a:spcAft>
              <a:defRPr sz="1800" b="1">
                <a:solidFill>
                  <a:srgbClr val="B5E7ED"/>
                </a:solidFill>
                <a:latin typeface="DejaVu Sans"/>
              </a:defRPr>
            </a:pPr>
            <a:r>
              <a:t>SU EQUIPO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165592" y="4718304"/>
            <a:ext cx="3172968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700"/>
              </a:spcAft>
              <a:defRPr sz="1600" b="0">
                <a:solidFill>
                  <a:srgbClr val="FFFFFF"/>
                </a:solidFill>
                <a:latin typeface="DejaVu Sans"/>
              </a:defRPr>
            </a:pPr>
            <a:r>
              <a:t>Solicitudes, documentos</a:t>
            </a:r>
          </a:p>
          <a:p>
            <a:pPr>
              <a:spcAft>
                <a:spcPts val="700"/>
              </a:spcAft>
              <a:defRPr sz="1600" b="0">
                <a:solidFill>
                  <a:srgbClr val="FFFFFF"/>
                </a:solidFill>
                <a:latin typeface="DejaVu Sans"/>
              </a:defRPr>
            </a:pPr>
            <a:r>
              <a:t>y comunicación.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A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08A6B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30352" y="310896"/>
            <a:ext cx="914400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700"/>
              </a:spcAft>
              <a:defRPr sz="1000" b="1">
                <a:solidFill>
                  <a:srgbClr val="08A6BB"/>
                </a:solidFill>
                <a:latin typeface="DejaVu Sans"/>
              </a:defRPr>
            </a:pPr>
            <a:r>
              <a:t>SAFE ZONE PERÚ   /   MARKINT</a:t>
            </a:r>
          </a:p>
        </p:txBody>
      </p:sp>
      <p:pic>
        <p:nvPicPr>
          <p:cNvPr id="4" name="Picture 3" descr="icono-safe-zon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18520" y="256032"/>
            <a:ext cx="566928" cy="566928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48640" y="905256"/>
            <a:ext cx="1088136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700"/>
              </a:spcAft>
              <a:defRPr sz="1100" b="1">
                <a:solidFill>
                  <a:srgbClr val="08A6BB"/>
                </a:solidFill>
                <a:latin typeface="DejaVu Sans"/>
              </a:defRPr>
            </a:pPr>
            <a:r>
              <a:t>EL PUNTO DE PARTIDA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353312"/>
            <a:ext cx="10972800" cy="1143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700"/>
              </a:spcAft>
              <a:defRPr sz="3300" b="1">
                <a:solidFill>
                  <a:srgbClr val="10283F"/>
                </a:solidFill>
                <a:latin typeface="DejaVu Sans"/>
              </a:defRPr>
            </a:pPr>
            <a:r>
              <a:t>La experiencia de MARKINT con Buk.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2532888"/>
            <a:ext cx="10881360" cy="594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700"/>
              </a:spcAft>
              <a:defRPr sz="1600" b="0">
                <a:solidFill>
                  <a:srgbClr val="51697D"/>
                </a:solidFill>
                <a:latin typeface="DejaVu Sans"/>
              </a:defRPr>
            </a:pPr>
            <a:r>
              <a:t>Una propuesta de plataforma propia, definida desde sus procesos y prioridades.</a:t>
            </a:r>
          </a:p>
        </p:txBody>
      </p:sp>
      <p:sp>
        <p:nvSpPr>
          <p:cNvPr id="8" name="Rectangle 7"/>
          <p:cNvSpPr/>
          <p:nvPr/>
        </p:nvSpPr>
        <p:spPr>
          <a:xfrm>
            <a:off x="548640" y="6382512"/>
            <a:ext cx="11018520" cy="10972"/>
          </a:xfrm>
          <a:prstGeom prst="rect">
            <a:avLst/>
          </a:prstGeom>
          <a:solidFill>
            <a:srgbClr val="D6E4E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48640" y="6519672"/>
            <a:ext cx="1005840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700"/>
              </a:spcAft>
              <a:defRPr sz="800" b="0">
                <a:solidFill>
                  <a:srgbClr val="51697D"/>
                </a:solidFill>
                <a:latin typeface="DejaVu Sans"/>
              </a:defRPr>
            </a:pPr>
            <a:r>
              <a:t>PROPUESTA TÉCNICA Y COMERCIAL  ·  22 OCT 2026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064240" y="6473952"/>
            <a:ext cx="4572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700"/>
              </a:spcAft>
              <a:defRPr sz="1000" b="1">
                <a:solidFill>
                  <a:srgbClr val="08A6BB"/>
                </a:solidFill>
                <a:latin typeface="DejaVu Sans"/>
              </a:defRPr>
            </a:pPr>
            <a:r>
              <a:t>02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48640" y="3429000"/>
            <a:ext cx="3520440" cy="22860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49808" y="3639312"/>
            <a:ext cx="3118104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700"/>
              </a:spcAft>
              <a:defRPr sz="1500" b="1">
                <a:solidFill>
                  <a:srgbClr val="08A6BB"/>
                </a:solidFill>
                <a:latin typeface="DejaVu Sans"/>
              </a:defRPr>
            </a:pPr>
            <a:r>
              <a:t>SU OPERACIÓN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49808" y="4270248"/>
            <a:ext cx="3118104" cy="13533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700"/>
              </a:spcAft>
              <a:defRPr sz="1700" b="0">
                <a:solidFill>
                  <a:srgbClr val="173149"/>
                </a:solidFill>
                <a:latin typeface="DejaVu Sans"/>
              </a:defRPr>
            </a:pPr>
            <a:r>
              <a:t>Partir de los procesos que el equipo ya conoce y utiliza.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242816" y="3429000"/>
            <a:ext cx="3520440" cy="22860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443983" y="3639312"/>
            <a:ext cx="3118104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700"/>
              </a:spcAft>
              <a:defRPr sz="1500" b="1">
                <a:solidFill>
                  <a:srgbClr val="08A6BB"/>
                </a:solidFill>
                <a:latin typeface="DejaVu Sans"/>
              </a:defRPr>
            </a:pPr>
            <a:r>
              <a:t>SUS PRIORIDADES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443983" y="4270248"/>
            <a:ext cx="3118104" cy="13533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700"/>
              </a:spcAft>
              <a:defRPr sz="1700" b="0">
                <a:solidFill>
                  <a:srgbClr val="173149"/>
                </a:solidFill>
                <a:latin typeface="DejaVu Sans"/>
              </a:defRPr>
            </a:pPr>
            <a:r>
              <a:t>Definir flujos, responsabilidades e información para MARKINT.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936992" y="3429000"/>
            <a:ext cx="3630168" cy="22860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138160" y="3639312"/>
            <a:ext cx="3227832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700"/>
              </a:spcAft>
              <a:defRPr sz="1500" b="1">
                <a:solidFill>
                  <a:srgbClr val="08A6BB"/>
                </a:solidFill>
                <a:latin typeface="DejaVu Sans"/>
              </a:defRPr>
            </a:pPr>
            <a:r>
              <a:t>SU PLATAFORMA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138160" y="4270248"/>
            <a:ext cx="3227832" cy="13533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700"/>
              </a:spcAft>
              <a:defRPr sz="1700" b="0">
                <a:solidFill>
                  <a:srgbClr val="173149"/>
                </a:solidFill>
                <a:latin typeface="DejaVu Sans"/>
              </a:defRPr>
            </a:pPr>
            <a:r>
              <a:t>Diseñar una experiencia web para colaboradores, jefaturas y RRHH.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A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08A6B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30352" y="310896"/>
            <a:ext cx="914400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700"/>
              </a:spcAft>
              <a:defRPr sz="1000" b="1">
                <a:solidFill>
                  <a:srgbClr val="08A6BB"/>
                </a:solidFill>
                <a:latin typeface="DejaVu Sans"/>
              </a:defRPr>
            </a:pPr>
            <a:r>
              <a:t>SAFE ZONE PERÚ   /   MARKINT</a:t>
            </a:r>
          </a:p>
        </p:txBody>
      </p:sp>
      <p:pic>
        <p:nvPicPr>
          <p:cNvPr id="4" name="Picture 3" descr="icono-safe-zon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18520" y="256032"/>
            <a:ext cx="566928" cy="566928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48640" y="905256"/>
            <a:ext cx="1088136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700"/>
              </a:spcAft>
              <a:defRPr sz="1100" b="1">
                <a:solidFill>
                  <a:srgbClr val="08A6BB"/>
                </a:solidFill>
                <a:latin typeface="DejaVu Sans"/>
              </a:defRPr>
            </a:pPr>
            <a:r>
              <a:t>ALCANCE FUNCIONAL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353312"/>
            <a:ext cx="10972800" cy="1143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700"/>
              </a:spcAft>
              <a:defRPr sz="3300" b="1">
                <a:solidFill>
                  <a:srgbClr val="10283F"/>
                </a:solidFill>
                <a:latin typeface="DejaVu Sans"/>
              </a:defRPr>
            </a:pPr>
            <a:r>
              <a:t>Los módulos de la solución.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2532888"/>
            <a:ext cx="10881360" cy="594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700"/>
              </a:spcAft>
              <a:defRPr sz="1600" b="0">
                <a:solidFill>
                  <a:srgbClr val="51697D"/>
                </a:solidFill>
                <a:latin typeface="DejaVu Sans"/>
              </a:defRPr>
            </a:pPr>
            <a:r>
              <a:t>Procesos conectados mediante perfiles y permisos de acceso.</a:t>
            </a:r>
          </a:p>
        </p:txBody>
      </p:sp>
      <p:sp>
        <p:nvSpPr>
          <p:cNvPr id="8" name="Rectangle 7"/>
          <p:cNvSpPr/>
          <p:nvPr/>
        </p:nvSpPr>
        <p:spPr>
          <a:xfrm>
            <a:off x="548640" y="6382512"/>
            <a:ext cx="11018520" cy="10972"/>
          </a:xfrm>
          <a:prstGeom prst="rect">
            <a:avLst/>
          </a:prstGeom>
          <a:solidFill>
            <a:srgbClr val="D6E4E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48640" y="6519672"/>
            <a:ext cx="1005840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700"/>
              </a:spcAft>
              <a:defRPr sz="800" b="0">
                <a:solidFill>
                  <a:srgbClr val="51697D"/>
                </a:solidFill>
                <a:latin typeface="DejaVu Sans"/>
              </a:defRPr>
            </a:pPr>
            <a:r>
              <a:t>PROPUESTA TÉCNICA Y COMERCIAL  ·  22 OCT 2026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064240" y="6473952"/>
            <a:ext cx="4572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700"/>
              </a:spcAft>
              <a:defRPr sz="1000" b="1">
                <a:solidFill>
                  <a:srgbClr val="08A6BB"/>
                </a:solidFill>
                <a:latin typeface="DejaVu Sans"/>
              </a:defRPr>
            </a:pPr>
            <a:r>
              <a:t>03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48640" y="3319272"/>
            <a:ext cx="5413248" cy="621792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13232" y="3465576"/>
            <a:ext cx="411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700"/>
              </a:spcAft>
              <a:defRPr sz="1200" b="1">
                <a:solidFill>
                  <a:srgbClr val="08A6BB"/>
                </a:solidFill>
                <a:latin typeface="DejaVu Sans"/>
              </a:defRPr>
            </a:pPr>
            <a:r>
              <a:t>01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280160" y="3456432"/>
            <a:ext cx="448056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700"/>
              </a:spcAft>
              <a:defRPr sz="1600" b="1">
                <a:solidFill>
                  <a:srgbClr val="173149"/>
                </a:solidFill>
                <a:latin typeface="DejaVu Sans"/>
              </a:defRPr>
            </a:pPr>
            <a:r>
              <a:t>Expediente digital de personal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153912" y="3319272"/>
            <a:ext cx="5413248" cy="621792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318503" y="3465576"/>
            <a:ext cx="411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700"/>
              </a:spcAft>
              <a:defRPr sz="1200" b="1">
                <a:solidFill>
                  <a:srgbClr val="08A6BB"/>
                </a:solidFill>
                <a:latin typeface="DejaVu Sans"/>
              </a:defRPr>
            </a:pPr>
            <a:r>
              <a:t>02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885431" y="3456432"/>
            <a:ext cx="448056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700"/>
              </a:spcAft>
              <a:defRPr sz="1600" b="1">
                <a:solidFill>
                  <a:srgbClr val="173149"/>
                </a:solidFill>
                <a:latin typeface="DejaVu Sans"/>
              </a:defRPr>
            </a:pPr>
            <a:r>
              <a:t>Asistencia e incidencias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48640" y="4096511"/>
            <a:ext cx="5413248" cy="621792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13232" y="4242816"/>
            <a:ext cx="411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700"/>
              </a:spcAft>
              <a:defRPr sz="1200" b="1">
                <a:solidFill>
                  <a:srgbClr val="08A6BB"/>
                </a:solidFill>
                <a:latin typeface="DejaVu Sans"/>
              </a:defRPr>
            </a:pPr>
            <a:r>
              <a:t>03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280160" y="4233672"/>
            <a:ext cx="448056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700"/>
              </a:spcAft>
              <a:defRPr sz="1600" b="1">
                <a:solidFill>
                  <a:srgbClr val="173149"/>
                </a:solidFill>
                <a:latin typeface="DejaVu Sans"/>
              </a:defRPr>
            </a:pPr>
            <a:r>
              <a:t>Vacaciones y licencias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53912" y="4096511"/>
            <a:ext cx="5413248" cy="621792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318503" y="4242816"/>
            <a:ext cx="411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700"/>
              </a:spcAft>
              <a:defRPr sz="1200" b="1">
                <a:solidFill>
                  <a:srgbClr val="08A6BB"/>
                </a:solidFill>
                <a:latin typeface="DejaVu Sans"/>
              </a:defRPr>
            </a:pPr>
            <a:r>
              <a:t>04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885431" y="4233672"/>
            <a:ext cx="448056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700"/>
              </a:spcAft>
              <a:defRPr sz="1600" b="1">
                <a:solidFill>
                  <a:srgbClr val="173149"/>
                </a:solidFill>
                <a:latin typeface="DejaVu Sans"/>
              </a:defRPr>
            </a:pPr>
            <a:r>
              <a:t>Planilla, documentos y firma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548640" y="4873752"/>
            <a:ext cx="5413248" cy="621792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13232" y="5020056"/>
            <a:ext cx="411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700"/>
              </a:spcAft>
              <a:defRPr sz="1200" b="1">
                <a:solidFill>
                  <a:srgbClr val="08A6BB"/>
                </a:solidFill>
                <a:latin typeface="DejaVu Sans"/>
              </a:defRPr>
            </a:pPr>
            <a:r>
              <a:t>05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280160" y="5010912"/>
            <a:ext cx="448056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700"/>
              </a:spcAft>
              <a:defRPr sz="1600" b="1">
                <a:solidFill>
                  <a:srgbClr val="173149"/>
                </a:solidFill>
                <a:latin typeface="DejaVu Sans"/>
              </a:defRPr>
            </a:pPr>
            <a:r>
              <a:t>Encuestas y clima laboral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153912" y="4873752"/>
            <a:ext cx="5413248" cy="621792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318503" y="5020056"/>
            <a:ext cx="411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700"/>
              </a:spcAft>
              <a:defRPr sz="1200" b="1">
                <a:solidFill>
                  <a:srgbClr val="08A6BB"/>
                </a:solidFill>
                <a:latin typeface="DejaVu Sans"/>
              </a:defRPr>
            </a:pPr>
            <a:r>
              <a:t>06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885431" y="5010912"/>
            <a:ext cx="448056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700"/>
              </a:spcAft>
              <a:defRPr sz="1600" b="1">
                <a:solidFill>
                  <a:srgbClr val="173149"/>
                </a:solidFill>
                <a:latin typeface="DejaVu Sans"/>
              </a:defRPr>
            </a:pPr>
            <a:r>
              <a:t>Comunicación interna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21792" y="5815584"/>
            <a:ext cx="1078992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700"/>
              </a:spcAft>
              <a:defRPr sz="1300" b="0">
                <a:solidFill>
                  <a:srgbClr val="51697D"/>
                </a:solidFill>
                <a:latin typeface="DejaVu Sans"/>
              </a:defRPr>
            </a:pPr>
            <a:r>
              <a:t>Seguridad transversal: Administrador · RRHH · Jefatura · Empleado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A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08A6B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30352" y="310896"/>
            <a:ext cx="914400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700"/>
              </a:spcAft>
              <a:defRPr sz="1000" b="1">
                <a:solidFill>
                  <a:srgbClr val="08A6BB"/>
                </a:solidFill>
                <a:latin typeface="DejaVu Sans"/>
              </a:defRPr>
            </a:pPr>
            <a:r>
              <a:t>SAFE ZONE PERÚ   /   MARKINT</a:t>
            </a:r>
          </a:p>
        </p:txBody>
      </p:sp>
      <p:pic>
        <p:nvPicPr>
          <p:cNvPr id="4" name="Picture 3" descr="icono-safe-zon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18520" y="256032"/>
            <a:ext cx="566928" cy="566928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48640" y="905256"/>
            <a:ext cx="1088136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700"/>
              </a:spcAft>
              <a:defRPr sz="1100" b="1">
                <a:solidFill>
                  <a:srgbClr val="08A6BB"/>
                </a:solidFill>
                <a:latin typeface="DejaVu Sans"/>
              </a:defRPr>
            </a:pPr>
            <a:r>
              <a:t>PERSONAL Y ASISTENCIA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353312"/>
            <a:ext cx="10972800" cy="1143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700"/>
              </a:spcAft>
              <a:defRPr sz="3300" b="1">
                <a:solidFill>
                  <a:srgbClr val="10283F"/>
                </a:solidFill>
                <a:latin typeface="DejaVu Sans"/>
              </a:defRPr>
            </a:pPr>
            <a:r>
              <a:t>Del expediente al control diario.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2532888"/>
            <a:ext cx="10881360" cy="594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700"/>
              </a:spcAft>
              <a:defRPr sz="1600" b="0">
                <a:solidFill>
                  <a:srgbClr val="51697D"/>
                </a:solidFill>
                <a:latin typeface="DejaVu Sans"/>
              </a:defRPr>
            </a:pPr>
            <a:r>
              <a:t>La base operativa para gestionar la información y las incidencias.</a:t>
            </a:r>
          </a:p>
        </p:txBody>
      </p:sp>
      <p:sp>
        <p:nvSpPr>
          <p:cNvPr id="8" name="Rectangle 7"/>
          <p:cNvSpPr/>
          <p:nvPr/>
        </p:nvSpPr>
        <p:spPr>
          <a:xfrm>
            <a:off x="548640" y="6382512"/>
            <a:ext cx="11018520" cy="10972"/>
          </a:xfrm>
          <a:prstGeom prst="rect">
            <a:avLst/>
          </a:prstGeom>
          <a:solidFill>
            <a:srgbClr val="D6E4E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48640" y="6519672"/>
            <a:ext cx="1005840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700"/>
              </a:spcAft>
              <a:defRPr sz="800" b="0">
                <a:solidFill>
                  <a:srgbClr val="51697D"/>
                </a:solidFill>
                <a:latin typeface="DejaVu Sans"/>
              </a:defRPr>
            </a:pPr>
            <a:r>
              <a:t>PROPUESTA TÉCNICA Y COMERCIAL  ·  22 OCT 2026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064240" y="6473952"/>
            <a:ext cx="4572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700"/>
              </a:spcAft>
              <a:defRPr sz="1000" b="1">
                <a:solidFill>
                  <a:srgbClr val="08A6BB"/>
                </a:solidFill>
                <a:latin typeface="DejaVu Sans"/>
              </a:defRPr>
            </a:pPr>
            <a:r>
              <a:t>04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48640" y="3383280"/>
            <a:ext cx="5413248" cy="25146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49808" y="3593592"/>
            <a:ext cx="5010912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700"/>
              </a:spcAft>
              <a:defRPr sz="1500" b="1">
                <a:solidFill>
                  <a:srgbClr val="08A6BB"/>
                </a:solidFill>
                <a:latin typeface="DejaVu Sans"/>
              </a:defRPr>
            </a:pPr>
            <a:r>
              <a:t>EXPEDIENTE DIGITAL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49808" y="4224528"/>
            <a:ext cx="5010912" cy="15819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700"/>
              </a:spcAft>
              <a:defRPr sz="1700" b="0">
                <a:solidFill>
                  <a:srgbClr val="173149"/>
                </a:solidFill>
                <a:latin typeface="DejaVu Sans"/>
              </a:defRPr>
            </a:pPr>
            <a:r>
              <a:t>Datos de colaboradores, contratos, cargos, áreas, sedes e historial de movimientos.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163056" y="3383280"/>
            <a:ext cx="5404104" cy="25146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364224" y="3593592"/>
            <a:ext cx="5001768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700"/>
              </a:spcAft>
              <a:defRPr sz="1500" b="1">
                <a:solidFill>
                  <a:srgbClr val="08A6BB"/>
                </a:solidFill>
                <a:latin typeface="DejaVu Sans"/>
              </a:defRPr>
            </a:pPr>
            <a:r>
              <a:t>CONTROL DE ASISTENCIA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64224" y="4224528"/>
            <a:ext cx="5001768" cy="15819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700"/>
              </a:spcAft>
              <a:defRPr sz="1700" b="0">
                <a:solidFill>
                  <a:srgbClr val="173149"/>
                </a:solidFill>
                <a:latin typeface="DejaVu Sans"/>
              </a:defRPr>
            </a:pPr>
            <a:r>
              <a:t>Horarios, entradas y salidas, tardanzas, horas extra e incidencias.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A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08A6B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30352" y="310896"/>
            <a:ext cx="914400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700"/>
              </a:spcAft>
              <a:defRPr sz="1000" b="1">
                <a:solidFill>
                  <a:srgbClr val="08A6BB"/>
                </a:solidFill>
                <a:latin typeface="DejaVu Sans"/>
              </a:defRPr>
            </a:pPr>
            <a:r>
              <a:t>SAFE ZONE PERÚ   /   MARKINT</a:t>
            </a:r>
          </a:p>
        </p:txBody>
      </p:sp>
      <p:pic>
        <p:nvPicPr>
          <p:cNvPr id="4" name="Picture 3" descr="icono-safe-zon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18520" y="256032"/>
            <a:ext cx="566928" cy="566928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48640" y="905256"/>
            <a:ext cx="1088136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700"/>
              </a:spcAft>
              <a:defRPr sz="1100" b="1">
                <a:solidFill>
                  <a:srgbClr val="08A6BB"/>
                </a:solidFill>
                <a:latin typeface="DejaVu Sans"/>
              </a:defRPr>
            </a:pPr>
            <a:r>
              <a:t>VACACIONES Y LICENCIAS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353312"/>
            <a:ext cx="10972800" cy="1143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700"/>
              </a:spcAft>
              <a:defRPr sz="3300" b="1">
                <a:solidFill>
                  <a:srgbClr val="10283F"/>
                </a:solidFill>
                <a:latin typeface="DejaVu Sans"/>
              </a:defRPr>
            </a:pPr>
            <a:r>
              <a:t>Solicitudes con un flujo definido.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2532888"/>
            <a:ext cx="10881360" cy="594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700"/>
              </a:spcAft>
              <a:defRPr sz="1600" b="0">
                <a:solidFill>
                  <a:srgbClr val="51697D"/>
                </a:solidFill>
                <a:latin typeface="DejaVu Sans"/>
              </a:defRPr>
            </a:pPr>
            <a:r>
              <a:t>El colaborador solicita; la jefatura o RRHH revisa y resuelve.</a:t>
            </a:r>
          </a:p>
        </p:txBody>
      </p:sp>
      <p:sp>
        <p:nvSpPr>
          <p:cNvPr id="8" name="Rectangle 7"/>
          <p:cNvSpPr/>
          <p:nvPr/>
        </p:nvSpPr>
        <p:spPr>
          <a:xfrm>
            <a:off x="548640" y="6382512"/>
            <a:ext cx="11018520" cy="10972"/>
          </a:xfrm>
          <a:prstGeom prst="rect">
            <a:avLst/>
          </a:prstGeom>
          <a:solidFill>
            <a:srgbClr val="D6E4E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48640" y="6519672"/>
            <a:ext cx="1005840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700"/>
              </a:spcAft>
              <a:defRPr sz="800" b="0">
                <a:solidFill>
                  <a:srgbClr val="51697D"/>
                </a:solidFill>
                <a:latin typeface="DejaVu Sans"/>
              </a:defRPr>
            </a:pPr>
            <a:r>
              <a:t>PROPUESTA TÉCNICA Y COMERCIAL  ·  22 OCT 2026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064240" y="6473952"/>
            <a:ext cx="4572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700"/>
              </a:spcAft>
              <a:defRPr sz="1000" b="1">
                <a:solidFill>
                  <a:srgbClr val="08A6BB"/>
                </a:solidFill>
                <a:latin typeface="DejaVu Sans"/>
              </a:defRPr>
            </a:pPr>
            <a:r>
              <a:t>05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48640" y="3474720"/>
            <a:ext cx="3520440" cy="22860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49808" y="3694176"/>
            <a:ext cx="310896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700"/>
              </a:spcAft>
              <a:defRPr sz="2700" b="1">
                <a:solidFill>
                  <a:srgbClr val="08A6BB"/>
                </a:solidFill>
                <a:latin typeface="DejaVu Sans"/>
              </a:defRPr>
            </a:pPr>
            <a:r>
              <a:t>01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49808" y="4352544"/>
            <a:ext cx="310896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700"/>
              </a:spcAft>
              <a:defRPr sz="1400" b="1">
                <a:solidFill>
                  <a:srgbClr val="10283F"/>
                </a:solidFill>
                <a:latin typeface="DejaVu Sans"/>
              </a:defRPr>
            </a:pPr>
            <a:r>
              <a:t>SOLICITUD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49808" y="4892040"/>
            <a:ext cx="310896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700"/>
              </a:spcAft>
              <a:defRPr sz="1600" b="0">
                <a:solidFill>
                  <a:srgbClr val="173149"/>
                </a:solidFill>
                <a:latin typeface="DejaVu Sans"/>
              </a:defRPr>
            </a:pPr>
            <a:r>
              <a:t>El colaborador registra</a:t>
            </a:r>
          </a:p>
          <a:p>
            <a:pPr>
              <a:spcAft>
                <a:spcPts val="700"/>
              </a:spcAft>
              <a:defRPr sz="1600" b="0">
                <a:solidFill>
                  <a:srgbClr val="173149"/>
                </a:solidFill>
                <a:latin typeface="DejaVu Sans"/>
              </a:defRPr>
            </a:pPr>
            <a:r>
              <a:t>su solicitud en línea.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279392" y="3474720"/>
            <a:ext cx="3520440" cy="22860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480559" y="3694176"/>
            <a:ext cx="310896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700"/>
              </a:spcAft>
              <a:defRPr sz="2700" b="1">
                <a:solidFill>
                  <a:srgbClr val="08A6BB"/>
                </a:solidFill>
                <a:latin typeface="DejaVu Sans"/>
              </a:defRPr>
            </a:pPr>
            <a:r>
              <a:t>02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480559" y="4352544"/>
            <a:ext cx="310896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700"/>
              </a:spcAft>
              <a:defRPr sz="1400" b="1">
                <a:solidFill>
                  <a:srgbClr val="10283F"/>
                </a:solidFill>
                <a:latin typeface="DejaVu Sans"/>
              </a:defRPr>
            </a:pPr>
            <a:r>
              <a:t>REVISIÓN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480559" y="4892040"/>
            <a:ext cx="310896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700"/>
              </a:spcAft>
              <a:defRPr sz="1600" b="0">
                <a:solidFill>
                  <a:srgbClr val="173149"/>
                </a:solidFill>
                <a:latin typeface="DejaVu Sans"/>
              </a:defRPr>
            </a:pPr>
            <a:r>
              <a:t>La jefatura o RRHH</a:t>
            </a:r>
          </a:p>
          <a:p>
            <a:pPr>
              <a:spcAft>
                <a:spcPts val="700"/>
              </a:spcAft>
              <a:defRPr sz="1600" b="0">
                <a:solidFill>
                  <a:srgbClr val="173149"/>
                </a:solidFill>
                <a:latin typeface="DejaVu Sans"/>
              </a:defRPr>
            </a:pPr>
            <a:r>
              <a:t>revisa la información.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010144" y="3474720"/>
            <a:ext cx="3520440" cy="22860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211312" y="3694176"/>
            <a:ext cx="310896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700"/>
              </a:spcAft>
              <a:defRPr sz="2700" b="1">
                <a:solidFill>
                  <a:srgbClr val="08A6BB"/>
                </a:solidFill>
                <a:latin typeface="DejaVu Sans"/>
              </a:defRPr>
            </a:pPr>
            <a:r>
              <a:t>03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211312" y="4352544"/>
            <a:ext cx="310896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700"/>
              </a:spcAft>
              <a:defRPr sz="1400" b="1">
                <a:solidFill>
                  <a:srgbClr val="10283F"/>
                </a:solidFill>
                <a:latin typeface="DejaVu Sans"/>
              </a:defRPr>
            </a:pPr>
            <a:r>
              <a:t>RESPUESTA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211312" y="4892040"/>
            <a:ext cx="310896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700"/>
              </a:spcAft>
              <a:defRPr sz="1600" b="0">
                <a:solidFill>
                  <a:srgbClr val="173149"/>
                </a:solidFill>
                <a:latin typeface="DejaVu Sans"/>
              </a:defRPr>
            </a:pPr>
            <a:r>
              <a:t>Aprobación o rechazo</a:t>
            </a:r>
          </a:p>
          <a:p>
            <a:pPr>
              <a:spcAft>
                <a:spcPts val="700"/>
              </a:spcAft>
              <a:defRPr sz="1600" b="0">
                <a:solidFill>
                  <a:srgbClr val="173149"/>
                </a:solidFill>
                <a:latin typeface="DejaVu Sans"/>
              </a:defRPr>
            </a:pPr>
            <a:r>
              <a:t>y consulta del estado.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A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08A6B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30352" y="310896"/>
            <a:ext cx="914400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700"/>
              </a:spcAft>
              <a:defRPr sz="1000" b="1">
                <a:solidFill>
                  <a:srgbClr val="08A6BB"/>
                </a:solidFill>
                <a:latin typeface="DejaVu Sans"/>
              </a:defRPr>
            </a:pPr>
            <a:r>
              <a:t>SAFE ZONE PERÚ   /   MARKINT</a:t>
            </a:r>
          </a:p>
        </p:txBody>
      </p:sp>
      <p:pic>
        <p:nvPicPr>
          <p:cNvPr id="4" name="Picture 3" descr="icono-safe-zon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18520" y="256032"/>
            <a:ext cx="566928" cy="566928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48640" y="905256"/>
            <a:ext cx="1088136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700"/>
              </a:spcAft>
              <a:defRPr sz="1100" b="1">
                <a:solidFill>
                  <a:srgbClr val="08A6BB"/>
                </a:solidFill>
                <a:latin typeface="DejaVu Sans"/>
              </a:defRPr>
            </a:pPr>
            <a:r>
              <a:t>PLANILLA Y DOCUMENTOS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353312"/>
            <a:ext cx="10972800" cy="1143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700"/>
              </a:spcAft>
              <a:defRPr sz="3300" b="1">
                <a:solidFill>
                  <a:srgbClr val="10283F"/>
                </a:solidFill>
                <a:latin typeface="DejaVu Sans"/>
              </a:defRPr>
            </a:pPr>
            <a:r>
              <a:t>Cálculo, validación y organización.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2532888"/>
            <a:ext cx="10881360" cy="594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700"/>
              </a:spcAft>
              <a:defRPr sz="1600" b="0">
                <a:solidFill>
                  <a:srgbClr val="51697D"/>
                </a:solidFill>
                <a:latin typeface="DejaVu Sans"/>
              </a:defRPr>
            </a:pPr>
            <a:r>
              <a:t>Información lista para revisión contable y gestión de pagos.</a:t>
            </a:r>
          </a:p>
        </p:txBody>
      </p:sp>
      <p:sp>
        <p:nvSpPr>
          <p:cNvPr id="8" name="Rectangle 7"/>
          <p:cNvSpPr/>
          <p:nvPr/>
        </p:nvSpPr>
        <p:spPr>
          <a:xfrm>
            <a:off x="548640" y="6382512"/>
            <a:ext cx="11018520" cy="10972"/>
          </a:xfrm>
          <a:prstGeom prst="rect">
            <a:avLst/>
          </a:prstGeom>
          <a:solidFill>
            <a:srgbClr val="D6E4E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48640" y="6519672"/>
            <a:ext cx="1005840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700"/>
              </a:spcAft>
              <a:defRPr sz="800" b="0">
                <a:solidFill>
                  <a:srgbClr val="51697D"/>
                </a:solidFill>
                <a:latin typeface="DejaVu Sans"/>
              </a:defRPr>
            </a:pPr>
            <a:r>
              <a:t>PROPUESTA TÉCNICA Y COMERCIAL  ·  22 OCT 2026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064240" y="6473952"/>
            <a:ext cx="4572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700"/>
              </a:spcAft>
              <a:defRPr sz="1000" b="1">
                <a:solidFill>
                  <a:srgbClr val="08A6BB"/>
                </a:solidFill>
                <a:latin typeface="DejaVu Sans"/>
              </a:defRPr>
            </a:pPr>
            <a:r>
              <a:t>06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48640" y="3383280"/>
            <a:ext cx="3520440" cy="25146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49808" y="3593592"/>
            <a:ext cx="3118104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700"/>
              </a:spcAft>
              <a:defRPr sz="1500" b="1">
                <a:solidFill>
                  <a:srgbClr val="08A6BB"/>
                </a:solidFill>
                <a:latin typeface="DejaVu Sans"/>
              </a:defRPr>
            </a:pPr>
            <a:r>
              <a:t>CÁLCULO BASE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49808" y="4224528"/>
            <a:ext cx="3118104" cy="15819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700"/>
              </a:spcAft>
              <a:defRPr sz="1700" b="0">
                <a:solidFill>
                  <a:srgbClr val="173149"/>
                </a:solidFill>
                <a:latin typeface="DejaVu Sans"/>
              </a:defRPr>
            </a:pPr>
            <a:r>
              <a:t>Haberes, descuentos y beneficios de ley para consolidación de planilla.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242816" y="3383280"/>
            <a:ext cx="3520440" cy="25146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443983" y="3593592"/>
            <a:ext cx="3118104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700"/>
              </a:spcAft>
              <a:defRPr sz="1500" b="1">
                <a:solidFill>
                  <a:srgbClr val="08A6BB"/>
                </a:solidFill>
                <a:latin typeface="DejaVu Sans"/>
              </a:defRPr>
            </a:pPr>
            <a:r>
              <a:t>VALIDACIÓN CONTABLE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443983" y="4224528"/>
            <a:ext cx="3118104" cy="15819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700"/>
              </a:spcAft>
              <a:defRPr sz="1700" b="0">
                <a:solidFill>
                  <a:srgbClr val="173149"/>
                </a:solidFill>
                <a:latin typeface="DejaVu Sans"/>
              </a:defRPr>
            </a:pPr>
            <a:r>
              <a:t>Revisión de resultados, reportes y generación de archivos bancarios.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936992" y="3383280"/>
            <a:ext cx="3630168" cy="25146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138160" y="3593592"/>
            <a:ext cx="3227832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700"/>
              </a:spcAft>
              <a:defRPr sz="1500" b="1">
                <a:solidFill>
                  <a:srgbClr val="08A6BB"/>
                </a:solidFill>
                <a:latin typeface="DejaVu Sans"/>
              </a:defRPr>
            </a:pPr>
            <a:r>
              <a:t>GESTIÓN DOCUMENTAL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138160" y="4224528"/>
            <a:ext cx="3227832" cy="15819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700"/>
              </a:spcAft>
              <a:defRPr sz="1700" b="0">
                <a:solidFill>
                  <a:srgbClr val="173149"/>
                </a:solidFill>
                <a:latin typeface="DejaVu Sans"/>
              </a:defRPr>
            </a:pPr>
            <a:r>
              <a:t>Carga y organización de boletas y documentos de cada colaborador.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83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08A6B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30352" y="310896"/>
            <a:ext cx="914400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700"/>
              </a:spcAft>
              <a:defRPr sz="1000" b="1">
                <a:solidFill>
                  <a:srgbClr val="08A6BB"/>
                </a:solidFill>
                <a:latin typeface="DejaVu Sans"/>
              </a:defRPr>
            </a:pPr>
            <a:r>
              <a:t>SAFE ZONE PERÚ   /   MARKINT</a:t>
            </a:r>
          </a:p>
        </p:txBody>
      </p:sp>
      <p:pic>
        <p:nvPicPr>
          <p:cNvPr id="4" name="Picture 3" descr="icono-safe-zon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18520" y="256032"/>
            <a:ext cx="566928" cy="566928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48640" y="905256"/>
            <a:ext cx="1088136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700"/>
              </a:spcAft>
              <a:defRPr sz="1100" b="1">
                <a:solidFill>
                  <a:srgbClr val="08A6BB"/>
                </a:solidFill>
                <a:latin typeface="DejaVu Sans"/>
              </a:defRPr>
            </a:pPr>
            <a:r>
              <a:t>FIRMA ELECTRÓNICA DE RECEPCIÓN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353312"/>
            <a:ext cx="10972800" cy="1143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700"/>
              </a:spcAft>
              <a:defRPr sz="3300" b="1">
                <a:solidFill>
                  <a:srgbClr val="FFFFFF"/>
                </a:solidFill>
                <a:latin typeface="DejaVu Sans"/>
              </a:defRPr>
            </a:pPr>
            <a:r>
              <a:t>La boleta, el trazo y su constancia.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2532888"/>
            <a:ext cx="10881360" cy="594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700"/>
              </a:spcAft>
              <a:defRPr sz="1600" b="0">
                <a:solidFill>
                  <a:srgbClr val="B5E7ED"/>
                </a:solidFill>
                <a:latin typeface="DejaVu Sans"/>
              </a:defRPr>
            </a:pPr>
            <a:r>
              <a:t>Firma directa con pantalla táctil o mouse, asociada al usuario y al documento.</a:t>
            </a:r>
          </a:p>
        </p:txBody>
      </p:sp>
      <p:sp>
        <p:nvSpPr>
          <p:cNvPr id="8" name="Rectangle 7"/>
          <p:cNvSpPr/>
          <p:nvPr/>
        </p:nvSpPr>
        <p:spPr>
          <a:xfrm>
            <a:off x="548640" y="6382512"/>
            <a:ext cx="11018520" cy="10972"/>
          </a:xfrm>
          <a:prstGeom prst="rect">
            <a:avLst/>
          </a:prstGeom>
          <a:solidFill>
            <a:srgbClr val="193A5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48640" y="6519672"/>
            <a:ext cx="1005840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700"/>
              </a:spcAft>
              <a:defRPr sz="800" b="0">
                <a:solidFill>
                  <a:srgbClr val="A9C2D1"/>
                </a:solidFill>
                <a:latin typeface="DejaVu Sans"/>
              </a:defRPr>
            </a:pPr>
            <a:r>
              <a:t>PROPUESTA TÉCNICA Y COMERCIAL  ·  22 OCT 2026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064240" y="6473952"/>
            <a:ext cx="4572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700"/>
              </a:spcAft>
              <a:defRPr sz="1000" b="1">
                <a:solidFill>
                  <a:srgbClr val="08A6BB"/>
                </a:solidFill>
                <a:latin typeface="DejaVu Sans"/>
              </a:defRPr>
            </a:pPr>
            <a:r>
              <a:t>07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48640" y="3474720"/>
            <a:ext cx="5577840" cy="2377440"/>
          </a:xfrm>
          <a:prstGeom prst="roundRect">
            <a:avLst>
              <a:gd name="adj" fmla="val 12000"/>
            </a:avLst>
          </a:prstGeom>
          <a:solidFill>
            <a:srgbClr val="193A5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04672" y="3712463"/>
            <a:ext cx="50292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700"/>
              </a:spcAft>
              <a:defRPr sz="1500" b="1">
                <a:solidFill>
                  <a:srgbClr val="B5E7ED"/>
                </a:solidFill>
                <a:latin typeface="DejaVu Sans"/>
              </a:defRPr>
            </a:pPr>
            <a:r>
              <a:t>FIRMA EN PANTALLA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04672" y="4389120"/>
            <a:ext cx="5029200" cy="1143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700"/>
              </a:spcAft>
              <a:defRPr sz="2300" b="1">
                <a:solidFill>
                  <a:srgbClr val="FFFFFF"/>
                </a:solidFill>
                <a:latin typeface="DejaVu Sans"/>
              </a:defRPr>
            </a:pPr>
            <a:r>
              <a:t>El colaborador firma</a:t>
            </a:r>
          </a:p>
          <a:p>
            <a:pPr>
              <a:spcAft>
                <a:spcPts val="700"/>
              </a:spcAft>
              <a:defRPr sz="2300" b="1">
                <a:solidFill>
                  <a:srgbClr val="FFFFFF"/>
                </a:solidFill>
                <a:latin typeface="DejaVu Sans"/>
              </a:defRPr>
            </a:pPr>
            <a:r>
              <a:t>la recepción de su boleta.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37960" y="3547872"/>
            <a:ext cx="47548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700"/>
              </a:spcAft>
              <a:defRPr sz="1200" b="1">
                <a:solidFill>
                  <a:srgbClr val="08A6BB"/>
                </a:solidFill>
                <a:latin typeface="DejaVu Sans"/>
              </a:defRPr>
            </a:pPr>
            <a:r>
              <a:t>IDENTIDAD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37960" y="3840480"/>
            <a:ext cx="47548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700"/>
              </a:spcAft>
              <a:defRPr sz="1700" b="0">
                <a:solidFill>
                  <a:srgbClr val="FFFFFF"/>
                </a:solidFill>
                <a:latin typeface="DejaVu Sans"/>
              </a:defRPr>
            </a:pPr>
            <a:r>
              <a:t>Usuario y documento asociados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37960" y="4325112"/>
            <a:ext cx="47548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700"/>
              </a:spcAft>
              <a:defRPr sz="1200" b="1">
                <a:solidFill>
                  <a:srgbClr val="08A6BB"/>
                </a:solidFill>
                <a:latin typeface="DejaVu Sans"/>
              </a:defRPr>
            </a:pPr>
            <a:r>
              <a:t>MOMENTO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537960" y="4617720"/>
            <a:ext cx="47548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700"/>
              </a:spcAft>
              <a:defRPr sz="1700" b="0">
                <a:solidFill>
                  <a:srgbClr val="FFFFFF"/>
                </a:solidFill>
                <a:latin typeface="DejaVu Sans"/>
              </a:defRPr>
            </a:pPr>
            <a:r>
              <a:t>Fecha y hora registradas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537960" y="5102352"/>
            <a:ext cx="47548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700"/>
              </a:spcAft>
              <a:defRPr sz="1200" b="1">
                <a:solidFill>
                  <a:srgbClr val="08A6BB"/>
                </a:solidFill>
                <a:latin typeface="DejaVu Sans"/>
              </a:defRPr>
            </a:pPr>
            <a:r>
              <a:t>ACCESO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537960" y="5394960"/>
            <a:ext cx="47548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700"/>
              </a:spcAft>
              <a:defRPr sz="1700" b="0">
                <a:solidFill>
                  <a:srgbClr val="FFFFFF"/>
                </a:solidFill>
                <a:latin typeface="DejaVu Sans"/>
              </a:defRPr>
            </a:pPr>
            <a:r>
              <a:t>IP de acceso registrada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A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08A6B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30352" y="310896"/>
            <a:ext cx="914400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700"/>
              </a:spcAft>
              <a:defRPr sz="1000" b="1">
                <a:solidFill>
                  <a:srgbClr val="08A6BB"/>
                </a:solidFill>
                <a:latin typeface="DejaVu Sans"/>
              </a:defRPr>
            </a:pPr>
            <a:r>
              <a:t>SAFE ZONE PERÚ   /   MARKINT</a:t>
            </a:r>
          </a:p>
        </p:txBody>
      </p:sp>
      <p:pic>
        <p:nvPicPr>
          <p:cNvPr id="4" name="Picture 3" descr="icono-safe-zon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18520" y="256032"/>
            <a:ext cx="566928" cy="566928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48640" y="905256"/>
            <a:ext cx="1088136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700"/>
              </a:spcAft>
              <a:defRPr sz="1100" b="1">
                <a:solidFill>
                  <a:srgbClr val="08A6BB"/>
                </a:solidFill>
                <a:latin typeface="DejaVu Sans"/>
              </a:defRPr>
            </a:pPr>
            <a:r>
              <a:t>ENCUESTAS Y COMUNICACIÓN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353312"/>
            <a:ext cx="10972800" cy="1143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700"/>
              </a:spcAft>
              <a:defRPr sz="3300" b="1">
                <a:solidFill>
                  <a:srgbClr val="10283F"/>
                </a:solidFill>
                <a:latin typeface="DejaVu Sans"/>
              </a:defRPr>
            </a:pPr>
            <a:r>
              <a:t>Escuchar e informar al personal.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2532888"/>
            <a:ext cx="10881360" cy="594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700"/>
              </a:spcAft>
              <a:defRPr sz="1600" b="0">
                <a:solidFill>
                  <a:srgbClr val="51697D"/>
                </a:solidFill>
                <a:latin typeface="DejaVu Sans"/>
              </a:defRPr>
            </a:pPr>
            <a:r>
              <a:t>Herramientas para conocer opiniones y compartir información relevante.</a:t>
            </a:r>
          </a:p>
        </p:txBody>
      </p:sp>
      <p:sp>
        <p:nvSpPr>
          <p:cNvPr id="8" name="Rectangle 7"/>
          <p:cNvSpPr/>
          <p:nvPr/>
        </p:nvSpPr>
        <p:spPr>
          <a:xfrm>
            <a:off x="548640" y="6382512"/>
            <a:ext cx="11018520" cy="10972"/>
          </a:xfrm>
          <a:prstGeom prst="rect">
            <a:avLst/>
          </a:prstGeom>
          <a:solidFill>
            <a:srgbClr val="D6E4E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48640" y="6519672"/>
            <a:ext cx="1005840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700"/>
              </a:spcAft>
              <a:defRPr sz="800" b="0">
                <a:solidFill>
                  <a:srgbClr val="51697D"/>
                </a:solidFill>
                <a:latin typeface="DejaVu Sans"/>
              </a:defRPr>
            </a:pPr>
            <a:r>
              <a:t>PROPUESTA TÉCNICA Y COMERCIAL  ·  22 OCT 2026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064240" y="6473952"/>
            <a:ext cx="4572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700"/>
              </a:spcAft>
              <a:defRPr sz="1000" b="1">
                <a:solidFill>
                  <a:srgbClr val="08A6BB"/>
                </a:solidFill>
                <a:latin typeface="DejaVu Sans"/>
              </a:defRPr>
            </a:pPr>
            <a:r>
              <a:t>08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48640" y="3383280"/>
            <a:ext cx="5413248" cy="25146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49808" y="3593592"/>
            <a:ext cx="5010912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700"/>
              </a:spcAft>
              <a:defRPr sz="1500" b="1">
                <a:solidFill>
                  <a:srgbClr val="08A6BB"/>
                </a:solidFill>
                <a:latin typeface="DejaVu Sans"/>
              </a:defRPr>
            </a:pPr>
            <a:r>
              <a:t>ENCUESTAS Y CLIMA LABORAL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49808" y="4224528"/>
            <a:ext cx="5010912" cy="15819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700"/>
              </a:spcAft>
              <a:defRPr sz="1700" b="0">
                <a:solidFill>
                  <a:srgbClr val="173149"/>
                </a:solidFill>
                <a:latin typeface="DejaVu Sans"/>
              </a:defRPr>
            </a:pPr>
            <a:r>
              <a:t>Campañas por áreas o sedes, reglas de confidencialidad y seguimiento de planes de acción.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163056" y="3383280"/>
            <a:ext cx="5404104" cy="25146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364224" y="3593592"/>
            <a:ext cx="5001768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700"/>
              </a:spcAft>
              <a:defRPr sz="1500" b="1">
                <a:solidFill>
                  <a:srgbClr val="08A6BB"/>
                </a:solidFill>
                <a:latin typeface="DejaVu Sans"/>
              </a:defRPr>
            </a:pPr>
            <a:r>
              <a:t>COMUNICACIÓN INTERNA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64224" y="4224528"/>
            <a:ext cx="5001768" cy="15819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700"/>
              </a:spcAft>
              <a:defRPr sz="1700" b="0">
                <a:solidFill>
                  <a:srgbClr val="173149"/>
                </a:solidFill>
                <a:latin typeface="DejaVu Sans"/>
              </a:defRPr>
            </a:pPr>
            <a:r>
              <a:t>Avisos segmentados, notificaciones en plataforma y correo, y cobertura de lectura.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A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08A6B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30352" y="310896"/>
            <a:ext cx="914400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700"/>
              </a:spcAft>
              <a:defRPr sz="1000" b="1">
                <a:solidFill>
                  <a:srgbClr val="08A6BB"/>
                </a:solidFill>
                <a:latin typeface="DejaVu Sans"/>
              </a:defRPr>
            </a:pPr>
            <a:r>
              <a:t>SAFE ZONE PERÚ   /   MARKINT</a:t>
            </a:r>
          </a:p>
        </p:txBody>
      </p:sp>
      <p:pic>
        <p:nvPicPr>
          <p:cNvPr id="4" name="Picture 3" descr="icono-safe-zon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18520" y="256032"/>
            <a:ext cx="566928" cy="566928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48640" y="905256"/>
            <a:ext cx="1088136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700"/>
              </a:spcAft>
              <a:defRPr sz="1100" b="1">
                <a:solidFill>
                  <a:srgbClr val="08A6BB"/>
                </a:solidFill>
                <a:latin typeface="DejaVu Sans"/>
              </a:defRPr>
            </a:pPr>
            <a:r>
              <a:t>SEGURIDAD Y ACCESO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353312"/>
            <a:ext cx="10972800" cy="1143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700"/>
              </a:spcAft>
              <a:defRPr sz="3300" b="1">
                <a:solidFill>
                  <a:srgbClr val="10283F"/>
                </a:solidFill>
                <a:latin typeface="DejaVu Sans"/>
              </a:defRPr>
            </a:pPr>
            <a:r>
              <a:t>Una función para cada responsabilidad.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2532888"/>
            <a:ext cx="10881360" cy="594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700"/>
              </a:spcAft>
              <a:defRPr sz="1600" b="0">
                <a:solidFill>
                  <a:srgbClr val="51697D"/>
                </a:solidFill>
                <a:latin typeface="DejaVu Sans"/>
              </a:defRPr>
            </a:pPr>
            <a:r>
              <a:t>Perfiles diferenciados para administrar, revisar y participar.</a:t>
            </a:r>
          </a:p>
        </p:txBody>
      </p:sp>
      <p:sp>
        <p:nvSpPr>
          <p:cNvPr id="8" name="Rectangle 7"/>
          <p:cNvSpPr/>
          <p:nvPr/>
        </p:nvSpPr>
        <p:spPr>
          <a:xfrm>
            <a:off x="548640" y="6382512"/>
            <a:ext cx="11018520" cy="10972"/>
          </a:xfrm>
          <a:prstGeom prst="rect">
            <a:avLst/>
          </a:prstGeom>
          <a:solidFill>
            <a:srgbClr val="D6E4E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48640" y="6519672"/>
            <a:ext cx="1005840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700"/>
              </a:spcAft>
              <a:defRPr sz="800" b="0">
                <a:solidFill>
                  <a:srgbClr val="51697D"/>
                </a:solidFill>
                <a:latin typeface="DejaVu Sans"/>
              </a:defRPr>
            </a:pPr>
            <a:r>
              <a:t>PROPUESTA TÉCNICA Y COMERCIAL  ·  22 OCT 2026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064240" y="6473952"/>
            <a:ext cx="4572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700"/>
              </a:spcAft>
              <a:defRPr sz="1000" b="1">
                <a:solidFill>
                  <a:srgbClr val="08A6BB"/>
                </a:solidFill>
                <a:latin typeface="DejaVu Sans"/>
              </a:defRPr>
            </a:pPr>
            <a:r>
              <a:t>09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48640" y="3520440"/>
            <a:ext cx="2596896" cy="224028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31520" y="3785615"/>
            <a:ext cx="2231136" cy="594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700"/>
              </a:spcAft>
              <a:defRPr sz="1200" b="1">
                <a:solidFill>
                  <a:srgbClr val="08A6BB"/>
                </a:solidFill>
                <a:latin typeface="DejaVu Sans"/>
              </a:defRPr>
            </a:pPr>
            <a:r>
              <a:t>ADMINISTRADOR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1520" y="4617720"/>
            <a:ext cx="2231136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700"/>
              </a:spcAft>
              <a:defRPr sz="1600" b="0">
                <a:solidFill>
                  <a:srgbClr val="173149"/>
                </a:solidFill>
                <a:latin typeface="DejaVu Sans"/>
              </a:defRPr>
            </a:pPr>
            <a:r>
              <a:t>Usuarios, perfiles</a:t>
            </a:r>
          </a:p>
          <a:p>
            <a:pPr>
              <a:spcAft>
                <a:spcPts val="700"/>
              </a:spcAft>
              <a:defRPr sz="1600" b="0">
                <a:solidFill>
                  <a:srgbClr val="173149"/>
                </a:solidFill>
                <a:latin typeface="DejaVu Sans"/>
              </a:defRPr>
            </a:pPr>
            <a:r>
              <a:t>y configuración.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364992" y="3520440"/>
            <a:ext cx="2596896" cy="224028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547872" y="3785615"/>
            <a:ext cx="2231136" cy="594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700"/>
              </a:spcAft>
              <a:defRPr sz="1200" b="1">
                <a:solidFill>
                  <a:srgbClr val="08A6BB"/>
                </a:solidFill>
                <a:latin typeface="DejaVu Sans"/>
              </a:defRPr>
            </a:pPr>
            <a:r>
              <a:t>RECURSOS HUMANOS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547872" y="4617720"/>
            <a:ext cx="2231136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700"/>
              </a:spcAft>
              <a:defRPr sz="1600" b="0">
                <a:solidFill>
                  <a:srgbClr val="173149"/>
                </a:solidFill>
                <a:latin typeface="DejaVu Sans"/>
              </a:defRPr>
            </a:pPr>
            <a:r>
              <a:t>Gestión y seguimiento</a:t>
            </a:r>
          </a:p>
          <a:p>
            <a:pPr>
              <a:spcAft>
                <a:spcPts val="700"/>
              </a:spcAft>
              <a:defRPr sz="1600" b="0">
                <a:solidFill>
                  <a:srgbClr val="173149"/>
                </a:solidFill>
                <a:latin typeface="DejaVu Sans"/>
              </a:defRPr>
            </a:pPr>
            <a:r>
              <a:t>de los procesos.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181344" y="3520440"/>
            <a:ext cx="2596896" cy="224028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364224" y="3785615"/>
            <a:ext cx="2231136" cy="594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700"/>
              </a:spcAft>
              <a:defRPr sz="1200" b="1">
                <a:solidFill>
                  <a:srgbClr val="08A6BB"/>
                </a:solidFill>
                <a:latin typeface="DejaVu Sans"/>
              </a:defRPr>
            </a:pPr>
            <a:r>
              <a:t>JEFATURA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364224" y="4617720"/>
            <a:ext cx="2231136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700"/>
              </a:spcAft>
              <a:defRPr sz="1600" b="0">
                <a:solidFill>
                  <a:srgbClr val="173149"/>
                </a:solidFill>
                <a:latin typeface="DejaVu Sans"/>
              </a:defRPr>
            </a:pPr>
            <a:r>
              <a:t>Revisión y aprobación</a:t>
            </a:r>
          </a:p>
          <a:p>
            <a:pPr>
              <a:spcAft>
                <a:spcPts val="700"/>
              </a:spcAft>
              <a:defRPr sz="1600" b="0">
                <a:solidFill>
                  <a:srgbClr val="173149"/>
                </a:solidFill>
                <a:latin typeface="DejaVu Sans"/>
              </a:defRPr>
            </a:pPr>
            <a:r>
              <a:t>de solicitudes.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8997696" y="3520440"/>
            <a:ext cx="2596896" cy="224028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180576" y="3785615"/>
            <a:ext cx="2231136" cy="594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700"/>
              </a:spcAft>
              <a:defRPr sz="1200" b="1">
                <a:solidFill>
                  <a:srgbClr val="08A6BB"/>
                </a:solidFill>
                <a:latin typeface="DejaVu Sans"/>
              </a:defRPr>
            </a:pPr>
            <a:r>
              <a:t>EMPLEADO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180576" y="4617720"/>
            <a:ext cx="2231136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700"/>
              </a:spcAft>
              <a:defRPr sz="1600" b="0">
                <a:solidFill>
                  <a:srgbClr val="173149"/>
                </a:solidFill>
                <a:latin typeface="DejaVu Sans"/>
              </a:defRPr>
            </a:pPr>
            <a:r>
              <a:t>Solicitudes, boletas</a:t>
            </a:r>
          </a:p>
          <a:p>
            <a:pPr>
              <a:spcAft>
                <a:spcPts val="700"/>
              </a:spcAft>
              <a:defRPr sz="1600" b="0">
                <a:solidFill>
                  <a:srgbClr val="173149"/>
                </a:solidFill>
                <a:latin typeface="DejaVu Sans"/>
              </a:defRPr>
            </a:pPr>
            <a:r>
              <a:t>y participación.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A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08A6B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30352" y="310896"/>
            <a:ext cx="914400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700"/>
              </a:spcAft>
              <a:defRPr sz="1000" b="1">
                <a:solidFill>
                  <a:srgbClr val="08A6BB"/>
                </a:solidFill>
                <a:latin typeface="DejaVu Sans"/>
              </a:defRPr>
            </a:pPr>
            <a:r>
              <a:t>SAFE ZONE PERÚ   /   MARKINT</a:t>
            </a:r>
          </a:p>
        </p:txBody>
      </p:sp>
      <p:pic>
        <p:nvPicPr>
          <p:cNvPr id="4" name="Picture 3" descr="icono-safe-zon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18520" y="256032"/>
            <a:ext cx="566928" cy="566928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48640" y="905256"/>
            <a:ext cx="1088136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700"/>
              </a:spcAft>
              <a:defRPr sz="1100" b="1">
                <a:solidFill>
                  <a:srgbClr val="08A6BB"/>
                </a:solidFill>
                <a:latin typeface="DejaVu Sans"/>
              </a:defRPr>
            </a:pPr>
            <a:r>
              <a:t>CRONOGRAMA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353312"/>
            <a:ext cx="10972800" cy="1143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700"/>
              </a:spcAft>
              <a:defRPr sz="3300" b="1">
                <a:solidFill>
                  <a:srgbClr val="10283F"/>
                </a:solidFill>
                <a:latin typeface="DejaVu Sans"/>
              </a:defRPr>
            </a:pPr>
            <a:r>
              <a:t>Seis semanas de implementación.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2532888"/>
            <a:ext cx="10881360" cy="594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700"/>
              </a:spcAft>
              <a:defRPr sz="1600" b="0">
                <a:solidFill>
                  <a:srgbClr val="51697D"/>
                </a:solidFill>
                <a:latin typeface="DejaVu Sans"/>
              </a:defRPr>
            </a:pPr>
            <a:r>
              <a:t>Entregas funcionales y revisión con el equipo de MARKINT.</a:t>
            </a:r>
          </a:p>
        </p:txBody>
      </p:sp>
      <p:sp>
        <p:nvSpPr>
          <p:cNvPr id="8" name="Rectangle 7"/>
          <p:cNvSpPr/>
          <p:nvPr/>
        </p:nvSpPr>
        <p:spPr>
          <a:xfrm>
            <a:off x="548640" y="6382512"/>
            <a:ext cx="11018520" cy="10972"/>
          </a:xfrm>
          <a:prstGeom prst="rect">
            <a:avLst/>
          </a:prstGeom>
          <a:solidFill>
            <a:srgbClr val="D6E4E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48640" y="6519672"/>
            <a:ext cx="1005840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700"/>
              </a:spcAft>
              <a:defRPr sz="800" b="0">
                <a:solidFill>
                  <a:srgbClr val="51697D"/>
                </a:solidFill>
                <a:latin typeface="DejaVu Sans"/>
              </a:defRPr>
            </a:pPr>
            <a:r>
              <a:t>PROPUESTA TÉCNICA Y COMERCIAL  ·  22 OCT 2026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064240" y="6473952"/>
            <a:ext cx="4572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700"/>
              </a:spcAft>
              <a:defRPr sz="1000" b="1">
                <a:solidFill>
                  <a:srgbClr val="08A6BB"/>
                </a:solidFill>
                <a:latin typeface="DejaVu Sans"/>
              </a:defRPr>
            </a:pPr>
            <a:r>
              <a:t>10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48640" y="3246120"/>
            <a:ext cx="2194560" cy="566928"/>
          </a:xfrm>
          <a:prstGeom prst="roundRect">
            <a:avLst>
              <a:gd name="adj" fmla="val 12000"/>
            </a:avLst>
          </a:prstGeom>
          <a:solidFill>
            <a:srgbClr val="10283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13232" y="3392424"/>
            <a:ext cx="187451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700"/>
              </a:spcAft>
              <a:defRPr sz="1300" b="1">
                <a:solidFill>
                  <a:srgbClr val="FFFFFF"/>
                </a:solidFill>
                <a:latin typeface="DejaVu Sans"/>
              </a:defRPr>
            </a:pPr>
            <a:r>
              <a:t>Semanas 1 y 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971800" y="3328415"/>
            <a:ext cx="832104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700"/>
              </a:spcAft>
              <a:defRPr sz="1400" b="0">
                <a:solidFill>
                  <a:srgbClr val="173149"/>
                </a:solidFill>
                <a:latin typeface="DejaVu Sans"/>
              </a:defRPr>
            </a:pPr>
            <a:r>
              <a:t>Levantamiento detallado de requerimientos, diseño de la base de datos y desarrollo del expediente de personal.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48640" y="3941063"/>
            <a:ext cx="2194560" cy="566928"/>
          </a:xfrm>
          <a:prstGeom prst="roundRect">
            <a:avLst>
              <a:gd name="adj" fmla="val 12000"/>
            </a:avLst>
          </a:prstGeom>
          <a:solidFill>
            <a:srgbClr val="10283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13232" y="4087368"/>
            <a:ext cx="187451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700"/>
              </a:spcAft>
              <a:defRPr sz="1300" b="1">
                <a:solidFill>
                  <a:srgbClr val="FFFFFF"/>
                </a:solidFill>
                <a:latin typeface="DejaVu Sans"/>
              </a:defRPr>
            </a:pPr>
            <a:r>
              <a:t>Semanas 3 y 4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971800" y="4023359"/>
            <a:ext cx="832104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700"/>
              </a:spcAft>
              <a:defRPr sz="1400" b="0">
                <a:solidFill>
                  <a:srgbClr val="173149"/>
                </a:solidFill>
                <a:latin typeface="DejaVu Sans"/>
              </a:defRPr>
            </a:pPr>
            <a:r>
              <a:t>Desarrollo de asistencia, vacaciones y lógica de planilla con generación de reportes.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48640" y="4636008"/>
            <a:ext cx="2194560" cy="566928"/>
          </a:xfrm>
          <a:prstGeom prst="roundRect">
            <a:avLst>
              <a:gd name="adj" fmla="val 12000"/>
            </a:avLst>
          </a:prstGeom>
          <a:solidFill>
            <a:srgbClr val="10283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13232" y="4782312"/>
            <a:ext cx="187451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700"/>
              </a:spcAft>
              <a:defRPr sz="1300" b="1">
                <a:solidFill>
                  <a:srgbClr val="FFFFFF"/>
                </a:solidFill>
                <a:latin typeface="DejaVu Sans"/>
              </a:defRPr>
            </a:pPr>
            <a:r>
              <a:t>Semana 5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971800" y="4718304"/>
            <a:ext cx="832104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700"/>
              </a:spcAft>
              <a:defRPr sz="1400" b="0">
                <a:solidFill>
                  <a:srgbClr val="173149"/>
                </a:solidFill>
                <a:latin typeface="DejaVu Sans"/>
              </a:defRPr>
            </a:pPr>
            <a:r>
              <a:t>Integración de firma táctil, encuestas y comunicación interna; pruebas de flujo.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48640" y="5330952"/>
            <a:ext cx="2194560" cy="566928"/>
          </a:xfrm>
          <a:prstGeom prst="roundRect">
            <a:avLst>
              <a:gd name="adj" fmla="val 12000"/>
            </a:avLst>
          </a:prstGeom>
          <a:solidFill>
            <a:srgbClr val="10283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13232" y="5477256"/>
            <a:ext cx="187451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700"/>
              </a:spcAft>
              <a:defRPr sz="1300" b="1">
                <a:solidFill>
                  <a:srgbClr val="FFFFFF"/>
                </a:solidFill>
                <a:latin typeface="DejaVu Sans"/>
              </a:defRPr>
            </a:pPr>
            <a:r>
              <a:t>Semana 6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971800" y="5413248"/>
            <a:ext cx="832104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700"/>
              </a:spcAft>
              <a:defRPr sz="1400" b="0">
                <a:solidFill>
                  <a:srgbClr val="173149"/>
                </a:solidFill>
                <a:latin typeface="DejaVu Sans"/>
              </a:defRPr>
            </a:pPr>
            <a:r>
              <a:t>Pruebas integrales de calidad, despliegue en producción y capacitación al personal.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83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08A6B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30352" y="310896"/>
            <a:ext cx="914400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700"/>
              </a:spcAft>
              <a:defRPr sz="1000" b="1">
                <a:solidFill>
                  <a:srgbClr val="08A6BB"/>
                </a:solidFill>
                <a:latin typeface="DejaVu Sans"/>
              </a:defRPr>
            </a:pPr>
            <a:r>
              <a:t>SAFE ZONE PERÚ   /   MARKINT</a:t>
            </a:r>
          </a:p>
        </p:txBody>
      </p:sp>
      <p:pic>
        <p:nvPicPr>
          <p:cNvPr id="4" name="Picture 3" descr="icono-safe-zon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18520" y="256032"/>
            <a:ext cx="566928" cy="566928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48640" y="905256"/>
            <a:ext cx="1088136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700"/>
              </a:spcAft>
              <a:defRPr sz="1100" b="1">
                <a:solidFill>
                  <a:srgbClr val="08A6BB"/>
                </a:solidFill>
                <a:latin typeface="DejaVu Sans"/>
              </a:defRPr>
            </a:pPr>
            <a:r>
              <a:t>INVERSIÓN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353312"/>
            <a:ext cx="10972800" cy="1143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700"/>
              </a:spcAft>
              <a:defRPr sz="3300" b="1">
                <a:solidFill>
                  <a:srgbClr val="FFFFFF"/>
                </a:solidFill>
                <a:latin typeface="DejaVu Sans"/>
              </a:defRPr>
            </a:pPr>
            <a:r>
              <a:t>S/ 3,500.00 PEN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2532888"/>
            <a:ext cx="10881360" cy="594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700"/>
              </a:spcAft>
              <a:defRPr sz="1600" b="0">
                <a:solidFill>
                  <a:srgbClr val="B5E7ED"/>
                </a:solidFill>
                <a:latin typeface="DejaVu Sans"/>
              </a:defRPr>
            </a:pPr>
            <a:r>
              <a:t>Monto fijo por el desarrollo a medida. Sin cobro por colaborador.</a:t>
            </a:r>
          </a:p>
        </p:txBody>
      </p:sp>
      <p:sp>
        <p:nvSpPr>
          <p:cNvPr id="8" name="Rectangle 7"/>
          <p:cNvSpPr/>
          <p:nvPr/>
        </p:nvSpPr>
        <p:spPr>
          <a:xfrm>
            <a:off x="548640" y="6382512"/>
            <a:ext cx="11018520" cy="10972"/>
          </a:xfrm>
          <a:prstGeom prst="rect">
            <a:avLst/>
          </a:prstGeom>
          <a:solidFill>
            <a:srgbClr val="193A5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48640" y="6519672"/>
            <a:ext cx="1005840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700"/>
              </a:spcAft>
              <a:defRPr sz="800" b="0">
                <a:solidFill>
                  <a:srgbClr val="A9C2D1"/>
                </a:solidFill>
                <a:latin typeface="DejaVu Sans"/>
              </a:defRPr>
            </a:pPr>
            <a:r>
              <a:t>PROPUESTA TÉCNICA Y COMERCIAL  ·  22 OCT 2026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064240" y="6473952"/>
            <a:ext cx="4572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700"/>
              </a:spcAft>
              <a:defRPr sz="1000" b="1">
                <a:solidFill>
                  <a:srgbClr val="08A6BB"/>
                </a:solidFill>
                <a:latin typeface="DejaVu Sans"/>
              </a:defRPr>
            </a:pPr>
            <a:r>
              <a:t>11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48640" y="3474720"/>
            <a:ext cx="3520440" cy="2423160"/>
          </a:xfrm>
          <a:prstGeom prst="roundRect">
            <a:avLst>
              <a:gd name="adj" fmla="val 12000"/>
            </a:avLst>
          </a:prstGeom>
          <a:solidFill>
            <a:srgbClr val="193A5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58952" y="3694176"/>
            <a:ext cx="310896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700"/>
              </a:spcAft>
              <a:defRPr sz="2500" b="1">
                <a:solidFill>
                  <a:srgbClr val="08A6BB"/>
                </a:solidFill>
                <a:latin typeface="DejaVu Sans"/>
              </a:defRPr>
            </a:pPr>
            <a:r>
              <a:t>40 %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58952" y="4279392"/>
            <a:ext cx="310896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700"/>
              </a:spcAft>
              <a:defRPr sz="2200" b="1">
                <a:solidFill>
                  <a:srgbClr val="FFFFFF"/>
                </a:solidFill>
                <a:latin typeface="DejaVu Sans"/>
              </a:defRPr>
            </a:pPr>
            <a:r>
              <a:t>S/ 1,400.00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58952" y="4892040"/>
            <a:ext cx="310896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700"/>
              </a:spcAft>
              <a:defRPr sz="1300" b="0">
                <a:solidFill>
                  <a:srgbClr val="FFFFFF"/>
                </a:solidFill>
                <a:latin typeface="DejaVu Sans"/>
              </a:defRPr>
            </a:pPr>
            <a:r>
              <a:t>A la aceptación de la propuesta y reunión de inicio del proyecto.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279392" y="3474720"/>
            <a:ext cx="3520440" cy="2423160"/>
          </a:xfrm>
          <a:prstGeom prst="roundRect">
            <a:avLst>
              <a:gd name="adj" fmla="val 12000"/>
            </a:avLst>
          </a:prstGeom>
          <a:solidFill>
            <a:srgbClr val="193A5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489704" y="3694176"/>
            <a:ext cx="310896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700"/>
              </a:spcAft>
              <a:defRPr sz="2500" b="1">
                <a:solidFill>
                  <a:srgbClr val="08A6BB"/>
                </a:solidFill>
                <a:latin typeface="DejaVu Sans"/>
              </a:defRPr>
            </a:pPr>
            <a:r>
              <a:t>30 %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489704" y="4279392"/>
            <a:ext cx="310896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700"/>
              </a:spcAft>
              <a:defRPr sz="2200" b="1">
                <a:solidFill>
                  <a:srgbClr val="FFFFFF"/>
                </a:solidFill>
                <a:latin typeface="DejaVu Sans"/>
              </a:defRPr>
            </a:pPr>
            <a:r>
              <a:t>S/ 1,050.00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489704" y="4892040"/>
            <a:ext cx="310896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700"/>
              </a:spcAft>
              <a:defRPr sz="1300" b="0">
                <a:solidFill>
                  <a:srgbClr val="FFFFFF"/>
                </a:solidFill>
                <a:latin typeface="DejaVu Sans"/>
              </a:defRPr>
            </a:pPr>
            <a:r>
              <a:t>A la presentación del avance funcional de Personal, Asistencias y Planilla.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010144" y="3474720"/>
            <a:ext cx="3520440" cy="2423160"/>
          </a:xfrm>
          <a:prstGeom prst="roundRect">
            <a:avLst>
              <a:gd name="adj" fmla="val 12000"/>
            </a:avLst>
          </a:prstGeom>
          <a:solidFill>
            <a:srgbClr val="193A5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220456" y="3694176"/>
            <a:ext cx="310896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700"/>
              </a:spcAft>
              <a:defRPr sz="2500" b="1">
                <a:solidFill>
                  <a:srgbClr val="08A6BB"/>
                </a:solidFill>
                <a:latin typeface="DejaVu Sans"/>
              </a:defRPr>
            </a:pPr>
            <a:r>
              <a:t>30 %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220456" y="4279392"/>
            <a:ext cx="310896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700"/>
              </a:spcAft>
              <a:defRPr sz="2200" b="1">
                <a:solidFill>
                  <a:srgbClr val="FFFFFF"/>
                </a:solidFill>
                <a:latin typeface="DejaVu Sans"/>
              </a:defRPr>
            </a:pPr>
            <a:r>
              <a:t>S/ 1,050.00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220456" y="4892040"/>
            <a:ext cx="310896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700"/>
              </a:spcAft>
              <a:defRPr sz="1300" b="0">
                <a:solidFill>
                  <a:srgbClr val="FFFFFF"/>
                </a:solidFill>
                <a:latin typeface="DejaVu Sans"/>
              </a:defRPr>
            </a:pPr>
            <a:r>
              <a:t>Contra entrega del sistema desplegado, probado y con capacitación finalizada.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A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08A6B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30352" y="310896"/>
            <a:ext cx="914400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700"/>
              </a:spcAft>
              <a:defRPr sz="1000" b="1">
                <a:solidFill>
                  <a:srgbClr val="08A6BB"/>
                </a:solidFill>
                <a:latin typeface="DejaVu Sans"/>
              </a:defRPr>
            </a:pPr>
            <a:r>
              <a:t>SAFE ZONE PERÚ   /   MARKINT</a:t>
            </a:r>
          </a:p>
        </p:txBody>
      </p:sp>
      <p:pic>
        <p:nvPicPr>
          <p:cNvPr id="4" name="Picture 3" descr="icono-safe-zon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18520" y="256032"/>
            <a:ext cx="566928" cy="566928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48640" y="905256"/>
            <a:ext cx="1088136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700"/>
              </a:spcAft>
              <a:defRPr sz="1100" b="1">
                <a:solidFill>
                  <a:srgbClr val="08A6BB"/>
                </a:solidFill>
                <a:latin typeface="DejaVu Sans"/>
              </a:defRPr>
            </a:pPr>
            <a:r>
              <a:t>ENTREGA Y GARANTÍA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353312"/>
            <a:ext cx="10972800" cy="1143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700"/>
              </a:spcAft>
              <a:defRPr sz="3300" b="1">
                <a:solidFill>
                  <a:srgbClr val="10283F"/>
                </a:solidFill>
                <a:latin typeface="DejaVu Sans"/>
              </a:defRPr>
            </a:pPr>
            <a:r>
              <a:t>Implementación con acompañamiento.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2532888"/>
            <a:ext cx="10881360" cy="594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700"/>
              </a:spcAft>
              <a:defRPr sz="1600" b="0">
                <a:solidFill>
                  <a:srgbClr val="51697D"/>
                </a:solidFill>
                <a:latin typeface="DejaVu Sans"/>
              </a:defRPr>
            </a:pPr>
            <a:r>
              <a:t>Un sistema en producción y un equipo preparado para utilizarlo.</a:t>
            </a:r>
          </a:p>
        </p:txBody>
      </p:sp>
      <p:sp>
        <p:nvSpPr>
          <p:cNvPr id="8" name="Rectangle 7"/>
          <p:cNvSpPr/>
          <p:nvPr/>
        </p:nvSpPr>
        <p:spPr>
          <a:xfrm>
            <a:off x="548640" y="6382512"/>
            <a:ext cx="11018520" cy="10972"/>
          </a:xfrm>
          <a:prstGeom prst="rect">
            <a:avLst/>
          </a:prstGeom>
          <a:solidFill>
            <a:srgbClr val="D6E4E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48640" y="6519672"/>
            <a:ext cx="1005840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700"/>
              </a:spcAft>
              <a:defRPr sz="800" b="0">
                <a:solidFill>
                  <a:srgbClr val="51697D"/>
                </a:solidFill>
                <a:latin typeface="DejaVu Sans"/>
              </a:defRPr>
            </a:pPr>
            <a:r>
              <a:t>PROPUESTA TÉCNICA Y COMERCIAL  ·  22 OCT 2026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064240" y="6473952"/>
            <a:ext cx="4572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700"/>
              </a:spcAft>
              <a:defRPr sz="1000" b="1">
                <a:solidFill>
                  <a:srgbClr val="08A6BB"/>
                </a:solidFill>
                <a:latin typeface="DejaVu Sans"/>
              </a:defRPr>
            </a:pPr>
            <a:r>
              <a:t>12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48640" y="3383280"/>
            <a:ext cx="3520440" cy="25146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49808" y="3593592"/>
            <a:ext cx="3118104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700"/>
              </a:spcAft>
              <a:defRPr sz="1500" b="1">
                <a:solidFill>
                  <a:srgbClr val="08A6BB"/>
                </a:solidFill>
                <a:latin typeface="DejaVu Sans"/>
              </a:defRPr>
            </a:pPr>
            <a:r>
              <a:t>ENTREGA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49808" y="4224528"/>
            <a:ext cx="3118104" cy="15819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700"/>
              </a:spcAft>
              <a:defRPr sz="1700" b="0">
                <a:solidFill>
                  <a:srgbClr val="173149"/>
                </a:solidFill>
                <a:latin typeface="DejaVu Sans"/>
              </a:defRPr>
            </a:pPr>
            <a:r>
              <a:t>Plataforma web en producción, código fuente documentado y scripts de base de datos.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242816" y="3383280"/>
            <a:ext cx="3520440" cy="25146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443983" y="3593592"/>
            <a:ext cx="3118104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700"/>
              </a:spcAft>
              <a:defRPr sz="1500" b="1">
                <a:solidFill>
                  <a:srgbClr val="08A6BB"/>
                </a:solidFill>
                <a:latin typeface="DejaVu Sans"/>
              </a:defRPr>
            </a:pPr>
            <a:r>
              <a:t>CAPACITACIÓN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443983" y="4224528"/>
            <a:ext cx="3118104" cy="15819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700"/>
              </a:spcAft>
              <a:defRPr sz="1700" b="0">
                <a:solidFill>
                  <a:srgbClr val="173149"/>
                </a:solidFill>
                <a:latin typeface="DejaVu Sans"/>
              </a:defRPr>
            </a:pPr>
            <a:r>
              <a:t>Sesión para el equipo administrador y los colaboradores.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936992" y="3383280"/>
            <a:ext cx="3630168" cy="25146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138160" y="3593592"/>
            <a:ext cx="3227832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700"/>
              </a:spcAft>
              <a:defRPr sz="1500" b="1">
                <a:solidFill>
                  <a:srgbClr val="08A6BB"/>
                </a:solidFill>
                <a:latin typeface="DejaVu Sans"/>
              </a:defRPr>
            </a:pPr>
            <a:r>
              <a:t>GARANTÍA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138160" y="4224528"/>
            <a:ext cx="3227832" cy="15819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700"/>
              </a:spcAft>
              <a:defRPr sz="1700" b="0">
                <a:solidFill>
                  <a:srgbClr val="173149"/>
                </a:solidFill>
                <a:latin typeface="DejaVu Sans"/>
              </a:defRPr>
            </a:pPr>
            <a:r>
              <a:t>60 días calendario desde la puesta en marcha para corregir incidencias sin costo adicional.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83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08A6B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30352" y="310896"/>
            <a:ext cx="914400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700"/>
              </a:spcAft>
              <a:defRPr sz="1000" b="1">
                <a:solidFill>
                  <a:srgbClr val="08A6BB"/>
                </a:solidFill>
                <a:latin typeface="DejaVu Sans"/>
              </a:defRPr>
            </a:pPr>
            <a:r>
              <a:t>SAFE ZONE PERÚ   /   MARKINT</a:t>
            </a:r>
          </a:p>
        </p:txBody>
      </p:sp>
      <p:pic>
        <p:nvPicPr>
          <p:cNvPr id="4" name="Picture 3" descr="icono-safe-zon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18520" y="256032"/>
            <a:ext cx="566928" cy="566928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48640" y="905256"/>
            <a:ext cx="1088136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700"/>
              </a:spcAft>
              <a:defRPr sz="1100" b="1">
                <a:solidFill>
                  <a:srgbClr val="08A6BB"/>
                </a:solidFill>
                <a:latin typeface="DejaVu Sans"/>
              </a:defRPr>
            </a:pPr>
            <a:r>
              <a:t>CONDICIONES DE LA PROPUESTA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353312"/>
            <a:ext cx="10972800" cy="1143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700"/>
              </a:spcAft>
              <a:defRPr sz="3300" b="1">
                <a:solidFill>
                  <a:srgbClr val="FFFFFF"/>
                </a:solidFill>
                <a:latin typeface="DejaVu Sans"/>
              </a:defRPr>
            </a:pPr>
            <a:r>
              <a:t>Listos para iniciar el proyecto.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2532888"/>
            <a:ext cx="10881360" cy="594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700"/>
              </a:spcAft>
              <a:defRPr sz="1600" b="0">
                <a:solidFill>
                  <a:srgbClr val="B5E7ED"/>
                </a:solidFill>
                <a:latin typeface="DejaVu Sans"/>
              </a:defRPr>
            </a:pPr>
            <a:r>
              <a:t>Safe Zone Perú  |  Sistema Integral de Gestión de RRHH para MARKINT</a:t>
            </a:r>
          </a:p>
        </p:txBody>
      </p:sp>
      <p:sp>
        <p:nvSpPr>
          <p:cNvPr id="8" name="Rectangle 7"/>
          <p:cNvSpPr/>
          <p:nvPr/>
        </p:nvSpPr>
        <p:spPr>
          <a:xfrm>
            <a:off x="548640" y="6382512"/>
            <a:ext cx="11018520" cy="10972"/>
          </a:xfrm>
          <a:prstGeom prst="rect">
            <a:avLst/>
          </a:prstGeom>
          <a:solidFill>
            <a:srgbClr val="193A5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48640" y="6519672"/>
            <a:ext cx="1005840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700"/>
              </a:spcAft>
              <a:defRPr sz="800" b="0">
                <a:solidFill>
                  <a:srgbClr val="A9C2D1"/>
                </a:solidFill>
                <a:latin typeface="DejaVu Sans"/>
              </a:defRPr>
            </a:pPr>
            <a:r>
              <a:t>PROPUESTA TÉCNICA Y COMERCIAL  ·  22 OCT 2026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064240" y="6473952"/>
            <a:ext cx="4572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700"/>
              </a:spcAft>
              <a:defRPr sz="1000" b="1">
                <a:solidFill>
                  <a:srgbClr val="08A6BB"/>
                </a:solidFill>
                <a:latin typeface="DejaVu Sans"/>
              </a:defRPr>
            </a:pPr>
            <a:r>
              <a:t>13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48640" y="3474720"/>
            <a:ext cx="5413248" cy="2377440"/>
          </a:xfrm>
          <a:prstGeom prst="roundRect">
            <a:avLst>
              <a:gd name="adj" fmla="val 12000"/>
            </a:avLst>
          </a:prstGeom>
          <a:solidFill>
            <a:srgbClr val="193A5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49808" y="3685032"/>
            <a:ext cx="5010912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700"/>
              </a:spcAft>
              <a:defRPr sz="1500" b="1">
                <a:solidFill>
                  <a:srgbClr val="B5E7ED"/>
                </a:solidFill>
                <a:latin typeface="DejaVu Sans"/>
              </a:defRPr>
            </a:pPr>
            <a:r>
              <a:t>ALCANCE DE IMPLEMENTACIÓN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49808" y="4315968"/>
            <a:ext cx="5010912" cy="144475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700"/>
              </a:spcAft>
              <a:defRPr sz="1700" b="0">
                <a:solidFill>
                  <a:srgbClr val="FFFFFF"/>
                </a:solidFill>
                <a:latin typeface="DejaVu Sans"/>
              </a:defRPr>
            </a:pPr>
            <a:r>
              <a:t>Web adaptable a dispositivos móviles. Alojamiento VPS e infraestructura cloud a cargo de MARKINT.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163056" y="3474720"/>
            <a:ext cx="5404104" cy="2377440"/>
          </a:xfrm>
          <a:prstGeom prst="roundRect">
            <a:avLst>
              <a:gd name="adj" fmla="val 12000"/>
            </a:avLst>
          </a:prstGeom>
          <a:solidFill>
            <a:srgbClr val="193A5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364224" y="3685032"/>
            <a:ext cx="5001768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700"/>
              </a:spcAft>
              <a:defRPr sz="1500" b="1">
                <a:solidFill>
                  <a:srgbClr val="B5E7ED"/>
                </a:solidFill>
                <a:latin typeface="DejaVu Sans"/>
              </a:defRPr>
            </a:pPr>
            <a:r>
              <a:t>FORMALIZACIÓN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64224" y="4315968"/>
            <a:ext cx="5001768" cy="144475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700"/>
              </a:spcAft>
              <a:defRPr sz="1700" b="0">
                <a:solidFill>
                  <a:srgbClr val="FFFFFF"/>
                </a:solidFill>
                <a:latin typeface="DejaVu Sans"/>
              </a:defRPr>
            </a:pPr>
            <a:r>
              <a:t>Validez: 15 días desde la emisión. Inicio con aceptación, pago inicial e información requerida.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31520" y="5989320"/>
            <a:ext cx="10698480" cy="2103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700"/>
              </a:spcAft>
              <a:defRPr sz="1000" b="0">
                <a:solidFill>
                  <a:srgbClr val="B5E7ED"/>
                </a:solidFill>
                <a:latin typeface="DejaVu Sans"/>
              </a:defRPr>
            </a:pPr>
            <a:r>
              <a:t>No incluye integración directa con relojes biométricos físicos ni aplicación móvil nativa.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Sistema Integral de Gestión de RRHH — MARKINT</dc:title>
  <dc:subject/>
  <dc:creator>Safe Zone Perú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